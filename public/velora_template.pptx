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Bangers" panose="020B0604020202020204" charset="0"/>
      <p:regular r:id="rId9"/>
    </p:embeddedFont>
    <p:embeddedFont>
      <p:font typeface="Canva Sans" panose="020B0604020202020204" charset="0"/>
      <p:regular r:id="rId10"/>
    </p:embeddedFont>
    <p:embeddedFont>
      <p:font typeface="Canva Sans Bold" panose="020B0604020202020204" charset="0"/>
      <p:regular r:id="rId11"/>
    </p:embeddedFont>
    <p:embeddedFont>
      <p:font typeface="Comic Sans" panose="020B0604020202020204" charset="0"/>
      <p:regular r:id="rId12"/>
    </p:embeddedFont>
    <p:embeddedFont>
      <p:font typeface="Copperplate Gothic 32 AB Bold" panose="020B0604020202020204" charset="0"/>
      <p:regular r:id="rId13"/>
    </p:embeddedFont>
    <p:embeddedFont>
      <p:font typeface="Copperplate Gothic 32 BC" panose="020B0604020202020204" charset="0"/>
      <p:regular r:id="rId14"/>
    </p:embeddedFont>
    <p:embeddedFont>
      <p:font typeface="Gagalin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3" d="100"/>
          <a:sy n="43" d="100"/>
        </p:scale>
        <p:origin x="936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5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6" r="-116" b="-23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0000">
                <a:alpha val="49804"/>
              </a:srgbClr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9612716"/>
            <a:ext cx="18288000" cy="674284"/>
            <a:chOff x="0" y="0"/>
            <a:chExt cx="4816593" cy="1775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177589"/>
            </a:xfrm>
            <a:custGeom>
              <a:avLst/>
              <a:gdLst/>
              <a:ahLst/>
              <a:cxnLst/>
              <a:rect l="l" t="t" r="r" b="b"/>
              <a:pathLst>
                <a:path w="4816592" h="177589">
                  <a:moveTo>
                    <a:pt x="0" y="0"/>
                  </a:moveTo>
                  <a:lnTo>
                    <a:pt x="4816592" y="0"/>
                  </a:lnTo>
                  <a:lnTo>
                    <a:pt x="4816592" y="177589"/>
                  </a:lnTo>
                  <a:lnTo>
                    <a:pt x="0" y="177589"/>
                  </a:lnTo>
                  <a:close/>
                </a:path>
              </a:pathLst>
            </a:custGeom>
            <a:solidFill>
              <a:srgbClr val="000000">
                <a:alpha val="18824"/>
              </a:srgbClr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2156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0"/>
            <a:ext cx="18288000" cy="1387754"/>
            <a:chOff x="0" y="0"/>
            <a:chExt cx="4816593" cy="36549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816592" cy="365499"/>
            </a:xfrm>
            <a:custGeom>
              <a:avLst/>
              <a:gdLst/>
              <a:ahLst/>
              <a:cxnLst/>
              <a:rect l="l" t="t" r="r" b="b"/>
              <a:pathLst>
                <a:path w="4816592" h="365499">
                  <a:moveTo>
                    <a:pt x="0" y="0"/>
                  </a:moveTo>
                  <a:lnTo>
                    <a:pt x="4816592" y="0"/>
                  </a:lnTo>
                  <a:lnTo>
                    <a:pt x="4816592" y="365499"/>
                  </a:lnTo>
                  <a:lnTo>
                    <a:pt x="0" y="365499"/>
                  </a:lnTo>
                  <a:close/>
                </a:path>
              </a:pathLst>
            </a:custGeom>
            <a:solidFill>
              <a:srgbClr val="000000">
                <a:alpha val="19608"/>
              </a:srgbClr>
            </a:solidFill>
            <a:ln w="57150" cap="sq">
              <a:solidFill>
                <a:srgbClr val="000000">
                  <a:alpha val="19608"/>
                </a:srgbClr>
              </a:solidFill>
              <a:prstDash val="solid"/>
              <a:miter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4816593" cy="4035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591372" y="3399178"/>
            <a:ext cx="3463523" cy="51514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4"/>
              </a:lnSpc>
              <a:spcBef>
                <a:spcPct val="0"/>
              </a:spcBef>
            </a:pPr>
            <a:r>
              <a:rPr lang="en-US" sz="3253">
                <a:solidFill>
                  <a:srgbClr val="FFDE59"/>
                </a:solidFill>
                <a:latin typeface="Gagalin"/>
                <a:ea typeface="Gagalin"/>
                <a:cs typeface="Gagalin"/>
                <a:sym typeface="Gagalin"/>
              </a:rPr>
              <a:t>Team Name</a:t>
            </a:r>
          </a:p>
          <a:p>
            <a:pPr algn="ctr">
              <a:lnSpc>
                <a:spcPts val="4554"/>
              </a:lnSpc>
              <a:spcBef>
                <a:spcPct val="0"/>
              </a:spcBef>
            </a:pPr>
            <a:endParaRPr lang="en-US" sz="3253">
              <a:solidFill>
                <a:srgbClr val="FFDE59"/>
              </a:solidFill>
              <a:latin typeface="Gagalin"/>
              <a:ea typeface="Gagalin"/>
              <a:cs typeface="Gagalin"/>
              <a:sym typeface="Gagalin"/>
            </a:endParaRPr>
          </a:p>
          <a:p>
            <a:pPr algn="ctr">
              <a:lnSpc>
                <a:spcPts val="4554"/>
              </a:lnSpc>
              <a:spcBef>
                <a:spcPct val="0"/>
              </a:spcBef>
            </a:pPr>
            <a:r>
              <a:rPr lang="en-US" sz="3253">
                <a:solidFill>
                  <a:srgbClr val="FFDE59"/>
                </a:solidFill>
                <a:latin typeface="Gagalin"/>
                <a:ea typeface="Gagalin"/>
                <a:cs typeface="Gagalin"/>
                <a:sym typeface="Gagalin"/>
              </a:rPr>
              <a:t>Problem Statment</a:t>
            </a:r>
          </a:p>
          <a:p>
            <a:pPr algn="ctr">
              <a:lnSpc>
                <a:spcPts val="4554"/>
              </a:lnSpc>
              <a:spcBef>
                <a:spcPct val="0"/>
              </a:spcBef>
            </a:pPr>
            <a:endParaRPr lang="en-US" sz="3253">
              <a:solidFill>
                <a:srgbClr val="FFDE59"/>
              </a:solidFill>
              <a:latin typeface="Gagalin"/>
              <a:ea typeface="Gagalin"/>
              <a:cs typeface="Gagalin"/>
              <a:sym typeface="Gagalin"/>
            </a:endParaRPr>
          </a:p>
          <a:p>
            <a:pPr algn="ctr">
              <a:lnSpc>
                <a:spcPts val="4554"/>
              </a:lnSpc>
              <a:spcBef>
                <a:spcPct val="0"/>
              </a:spcBef>
            </a:pPr>
            <a:r>
              <a:rPr lang="en-US" sz="3253">
                <a:solidFill>
                  <a:srgbClr val="FFDE59"/>
                </a:solidFill>
                <a:latin typeface="Gagalin"/>
                <a:ea typeface="Gagalin"/>
                <a:cs typeface="Gagalin"/>
                <a:sym typeface="Gagalin"/>
              </a:rPr>
              <a:t>PS ID</a:t>
            </a:r>
          </a:p>
          <a:p>
            <a:pPr algn="ctr">
              <a:lnSpc>
                <a:spcPts val="4554"/>
              </a:lnSpc>
              <a:spcBef>
                <a:spcPct val="0"/>
              </a:spcBef>
            </a:pPr>
            <a:endParaRPr lang="en-US" sz="3253">
              <a:solidFill>
                <a:srgbClr val="FFDE59"/>
              </a:solidFill>
              <a:latin typeface="Gagalin"/>
              <a:ea typeface="Gagalin"/>
              <a:cs typeface="Gagalin"/>
              <a:sym typeface="Gagalin"/>
            </a:endParaRPr>
          </a:p>
          <a:p>
            <a:pPr algn="ctr">
              <a:lnSpc>
                <a:spcPts val="4554"/>
              </a:lnSpc>
              <a:spcBef>
                <a:spcPct val="0"/>
              </a:spcBef>
            </a:pPr>
            <a:r>
              <a:rPr lang="en-US" sz="3253">
                <a:solidFill>
                  <a:srgbClr val="FFDE59"/>
                </a:solidFill>
                <a:latin typeface="Gagalin"/>
                <a:ea typeface="Gagalin"/>
                <a:cs typeface="Gagalin"/>
                <a:sym typeface="Gagalin"/>
              </a:rPr>
              <a:t>Team ID</a:t>
            </a:r>
          </a:p>
          <a:p>
            <a:pPr algn="ctr">
              <a:lnSpc>
                <a:spcPts val="4554"/>
              </a:lnSpc>
              <a:spcBef>
                <a:spcPct val="0"/>
              </a:spcBef>
            </a:pPr>
            <a:endParaRPr lang="en-US" sz="3253">
              <a:solidFill>
                <a:srgbClr val="FFDE59"/>
              </a:solidFill>
              <a:latin typeface="Gagalin"/>
              <a:ea typeface="Gagalin"/>
              <a:cs typeface="Gagalin"/>
              <a:sym typeface="Gagalin"/>
            </a:endParaRPr>
          </a:p>
          <a:p>
            <a:pPr algn="ctr">
              <a:lnSpc>
                <a:spcPts val="4554"/>
              </a:lnSpc>
              <a:spcBef>
                <a:spcPct val="0"/>
              </a:spcBef>
            </a:pPr>
            <a:r>
              <a:rPr lang="en-US" sz="3253">
                <a:solidFill>
                  <a:srgbClr val="FFDE59"/>
                </a:solidFill>
                <a:latin typeface="Gagalin"/>
                <a:ea typeface="Gagalin"/>
                <a:cs typeface="Gagalin"/>
                <a:sym typeface="Gagalin"/>
              </a:rPr>
              <a:t>College Name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7834561" y="9660062"/>
            <a:ext cx="110133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Gagalin"/>
                <a:ea typeface="Gagalin"/>
                <a:cs typeface="Gagalin"/>
                <a:sym typeface="Gagalin"/>
              </a:rPr>
              <a:t>1</a:t>
            </a:r>
          </a:p>
        </p:txBody>
      </p:sp>
      <p:sp>
        <p:nvSpPr>
          <p:cNvPr id="14" name="Freeform 14"/>
          <p:cNvSpPr/>
          <p:nvPr/>
        </p:nvSpPr>
        <p:spPr>
          <a:xfrm>
            <a:off x="230308" y="179485"/>
            <a:ext cx="3140115" cy="1083728"/>
          </a:xfrm>
          <a:custGeom>
            <a:avLst/>
            <a:gdLst/>
            <a:ahLst/>
            <a:cxnLst/>
            <a:rect l="l" t="t" r="r" b="b"/>
            <a:pathLst>
              <a:path w="3140115" h="1083728">
                <a:moveTo>
                  <a:pt x="0" y="0"/>
                </a:moveTo>
                <a:lnTo>
                  <a:pt x="3140115" y="0"/>
                </a:lnTo>
                <a:lnTo>
                  <a:pt x="3140115" y="1083729"/>
                </a:lnTo>
                <a:lnTo>
                  <a:pt x="0" y="10837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17991"/>
            </a:stretch>
          </a:blipFill>
        </p:spPr>
      </p:sp>
      <p:grpSp>
        <p:nvGrpSpPr>
          <p:cNvPr id="15" name="Group 15"/>
          <p:cNvGrpSpPr/>
          <p:nvPr/>
        </p:nvGrpSpPr>
        <p:grpSpPr>
          <a:xfrm>
            <a:off x="15042849" y="334869"/>
            <a:ext cx="2744013" cy="745256"/>
            <a:chOff x="0" y="0"/>
            <a:chExt cx="3658684" cy="99367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32935" cy="993675"/>
            </a:xfrm>
            <a:custGeom>
              <a:avLst/>
              <a:gdLst/>
              <a:ahLst/>
              <a:cxnLst/>
              <a:rect l="l" t="t" r="r" b="b"/>
              <a:pathLst>
                <a:path w="832935" h="993675">
                  <a:moveTo>
                    <a:pt x="0" y="0"/>
                  </a:moveTo>
                  <a:lnTo>
                    <a:pt x="832935" y="0"/>
                  </a:lnTo>
                  <a:lnTo>
                    <a:pt x="832935" y="993675"/>
                  </a:lnTo>
                  <a:lnTo>
                    <a:pt x="0" y="993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1070" t="-27596" r="-13168" b="-31460"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946119" y="144465"/>
              <a:ext cx="2356744" cy="5625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20"/>
                </a:lnSpc>
                <a:spcBef>
                  <a:spcPct val="0"/>
                </a:spcBef>
              </a:pPr>
              <a:r>
                <a:rPr lang="en-US" sz="2300" spc="149">
                  <a:solidFill>
                    <a:srgbClr val="FFFFFF"/>
                  </a:solidFill>
                  <a:latin typeface="Copperplate Gothic 32 AB Bold"/>
                  <a:ea typeface="Copperplate Gothic 32 AB Bold"/>
                  <a:cs typeface="Copperplate Gothic 32 AB Bold"/>
                  <a:sym typeface="Copperplate Gothic 32 AB Bold"/>
                </a:rPr>
                <a:t>CIPHER 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91558" y="676707"/>
              <a:ext cx="2967126" cy="1986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76"/>
                </a:lnSpc>
                <a:spcBef>
                  <a:spcPct val="0"/>
                </a:spcBef>
              </a:pPr>
              <a:r>
                <a:rPr lang="en-US" sz="840" spc="54">
                  <a:solidFill>
                    <a:srgbClr val="FFFFFF"/>
                  </a:solidFill>
                  <a:latin typeface="Copperplate Gothic 32 BC"/>
                  <a:ea typeface="Copperplate Gothic 32 BC"/>
                  <a:cs typeface="Copperplate Gothic 32 BC"/>
                  <a:sym typeface="Copperplate Gothic 32 BC"/>
                </a:rPr>
                <a:t>IT STUDENTS’ EXECUTIVE COUNCIL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7493374" y="9832687"/>
            <a:ext cx="3083970" cy="27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7"/>
              </a:lnSpc>
              <a:spcBef>
                <a:spcPct val="0"/>
              </a:spcBef>
            </a:pPr>
            <a:r>
              <a:rPr lang="en-US" sz="1619">
                <a:solidFill>
                  <a:srgbClr val="38B6FF"/>
                </a:solidFill>
                <a:latin typeface="Gagalin"/>
                <a:ea typeface="Gagalin"/>
                <a:cs typeface="Gagalin"/>
                <a:sym typeface="Gagalin"/>
              </a:rPr>
              <a:t>Idea submission- Template1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7397943" y="165633"/>
            <a:ext cx="3274833" cy="1083728"/>
            <a:chOff x="0" y="0"/>
            <a:chExt cx="4366444" cy="1444971"/>
          </a:xfrm>
        </p:grpSpPr>
        <p:sp>
          <p:nvSpPr>
            <p:cNvPr id="21" name="TextBox 21"/>
            <p:cNvSpPr txBox="1"/>
            <p:nvPr/>
          </p:nvSpPr>
          <p:spPr>
            <a:xfrm>
              <a:off x="0" y="-142875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FFDE59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8219" y="-78472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38B6FF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3321" y="-106547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FF5757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340520" y="415474"/>
              <a:ext cx="1025923" cy="9650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044"/>
                </a:lnSpc>
                <a:spcBef>
                  <a:spcPct val="0"/>
                </a:spcBef>
              </a:pPr>
              <a:r>
                <a:rPr lang="en-US" sz="4317">
                  <a:solidFill>
                    <a:srgbClr val="FFDE59"/>
                  </a:solidFill>
                  <a:latin typeface="Bangers"/>
                  <a:ea typeface="Bangers"/>
                  <a:cs typeface="Bangers"/>
                  <a:sym typeface="Bangers"/>
                </a:rPr>
                <a:t>1.0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6" r="-116" b="-23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0000">
                <a:alpha val="49804"/>
              </a:srgbClr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9612716"/>
            <a:ext cx="18288000" cy="674284"/>
            <a:chOff x="0" y="0"/>
            <a:chExt cx="4816593" cy="1775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177589"/>
            </a:xfrm>
            <a:custGeom>
              <a:avLst/>
              <a:gdLst/>
              <a:ahLst/>
              <a:cxnLst/>
              <a:rect l="l" t="t" r="r" b="b"/>
              <a:pathLst>
                <a:path w="4816592" h="177589">
                  <a:moveTo>
                    <a:pt x="0" y="0"/>
                  </a:moveTo>
                  <a:lnTo>
                    <a:pt x="4816592" y="0"/>
                  </a:lnTo>
                  <a:lnTo>
                    <a:pt x="4816592" y="177589"/>
                  </a:lnTo>
                  <a:lnTo>
                    <a:pt x="0" y="177589"/>
                  </a:lnTo>
                  <a:close/>
                </a:path>
              </a:pathLst>
            </a:custGeom>
            <a:solidFill>
              <a:srgbClr val="000000">
                <a:alpha val="18824"/>
              </a:srgbClr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2156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0"/>
            <a:ext cx="18288000" cy="1387754"/>
            <a:chOff x="0" y="0"/>
            <a:chExt cx="4816593" cy="36549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816592" cy="365499"/>
            </a:xfrm>
            <a:custGeom>
              <a:avLst/>
              <a:gdLst/>
              <a:ahLst/>
              <a:cxnLst/>
              <a:rect l="l" t="t" r="r" b="b"/>
              <a:pathLst>
                <a:path w="4816592" h="365499">
                  <a:moveTo>
                    <a:pt x="0" y="0"/>
                  </a:moveTo>
                  <a:lnTo>
                    <a:pt x="4816592" y="0"/>
                  </a:lnTo>
                  <a:lnTo>
                    <a:pt x="4816592" y="365499"/>
                  </a:lnTo>
                  <a:lnTo>
                    <a:pt x="0" y="365499"/>
                  </a:lnTo>
                  <a:close/>
                </a:path>
              </a:pathLst>
            </a:custGeom>
            <a:solidFill>
              <a:srgbClr val="000000">
                <a:alpha val="19608"/>
              </a:srgbClr>
            </a:solidFill>
            <a:ln w="57150" cap="sq">
              <a:solidFill>
                <a:srgbClr val="000000">
                  <a:alpha val="19608"/>
                </a:srgbClr>
              </a:solidFill>
              <a:prstDash val="solid"/>
              <a:miter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4816593" cy="4035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230308" y="179485"/>
            <a:ext cx="3140115" cy="1083728"/>
          </a:xfrm>
          <a:custGeom>
            <a:avLst/>
            <a:gdLst/>
            <a:ahLst/>
            <a:cxnLst/>
            <a:rect l="l" t="t" r="r" b="b"/>
            <a:pathLst>
              <a:path w="3140115" h="1083728">
                <a:moveTo>
                  <a:pt x="0" y="0"/>
                </a:moveTo>
                <a:lnTo>
                  <a:pt x="3140115" y="0"/>
                </a:lnTo>
                <a:lnTo>
                  <a:pt x="3140115" y="1083729"/>
                </a:lnTo>
                <a:lnTo>
                  <a:pt x="0" y="10837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17991"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616543" y="4752528"/>
            <a:ext cx="6903486" cy="3004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94"/>
              </a:lnSpc>
              <a:spcBef>
                <a:spcPct val="0"/>
              </a:spcBef>
            </a:pPr>
            <a:r>
              <a:rPr lang="en-US" sz="2853">
                <a:solidFill>
                  <a:srgbClr val="FFDE59"/>
                </a:solidFill>
                <a:latin typeface="Comic Sans"/>
                <a:ea typeface="Comic Sans"/>
                <a:cs typeface="Comic Sans"/>
                <a:sym typeface="Comic Sans"/>
              </a:rPr>
              <a:t>• Clearly define the problem</a:t>
            </a:r>
          </a:p>
          <a:p>
            <a:pPr algn="just">
              <a:lnSpc>
                <a:spcPts val="3994"/>
              </a:lnSpc>
              <a:spcBef>
                <a:spcPct val="0"/>
              </a:spcBef>
            </a:pPr>
            <a:endParaRPr lang="en-US" sz="2853">
              <a:solidFill>
                <a:srgbClr val="FFDE59"/>
              </a:solidFill>
              <a:latin typeface="Comic Sans"/>
              <a:ea typeface="Comic Sans"/>
              <a:cs typeface="Comic Sans"/>
              <a:sym typeface="Comic Sans"/>
            </a:endParaRPr>
          </a:p>
          <a:p>
            <a:pPr algn="just">
              <a:lnSpc>
                <a:spcPts val="3994"/>
              </a:lnSpc>
              <a:spcBef>
                <a:spcPct val="0"/>
              </a:spcBef>
            </a:pPr>
            <a:r>
              <a:rPr lang="en-US" sz="2853">
                <a:solidFill>
                  <a:srgbClr val="FFDE59"/>
                </a:solidFill>
                <a:latin typeface="Comic Sans"/>
                <a:ea typeface="Comic Sans"/>
                <a:cs typeface="Comic Sans"/>
                <a:sym typeface="Comic Sans"/>
              </a:rPr>
              <a:t>• Who is affected by this problem</a:t>
            </a:r>
          </a:p>
          <a:p>
            <a:pPr algn="just">
              <a:lnSpc>
                <a:spcPts val="3994"/>
              </a:lnSpc>
              <a:spcBef>
                <a:spcPct val="0"/>
              </a:spcBef>
            </a:pPr>
            <a:endParaRPr lang="en-US" sz="2853">
              <a:solidFill>
                <a:srgbClr val="FFDE59"/>
              </a:solidFill>
              <a:latin typeface="Comic Sans"/>
              <a:ea typeface="Comic Sans"/>
              <a:cs typeface="Comic Sans"/>
              <a:sym typeface="Comic Sans"/>
            </a:endParaRPr>
          </a:p>
          <a:p>
            <a:pPr algn="just">
              <a:lnSpc>
                <a:spcPts val="3994"/>
              </a:lnSpc>
              <a:spcBef>
                <a:spcPct val="0"/>
              </a:spcBef>
            </a:pPr>
            <a:r>
              <a:rPr lang="en-US" sz="2853">
                <a:solidFill>
                  <a:srgbClr val="FFDE59"/>
                </a:solidFill>
                <a:latin typeface="Comic Sans"/>
                <a:ea typeface="Comic Sans"/>
                <a:cs typeface="Comic Sans"/>
                <a:sym typeface="Comic Sans"/>
              </a:rPr>
              <a:t>• Why this problem matters</a:t>
            </a:r>
          </a:p>
          <a:p>
            <a:pPr algn="just">
              <a:lnSpc>
                <a:spcPts val="3994"/>
              </a:lnSpc>
              <a:spcBef>
                <a:spcPct val="0"/>
              </a:spcBef>
            </a:pPr>
            <a:endParaRPr lang="en-US" sz="2853">
              <a:solidFill>
                <a:srgbClr val="FFDE59"/>
              </a:solidFill>
              <a:latin typeface="Comic Sans"/>
              <a:ea typeface="Comic Sans"/>
              <a:cs typeface="Comic Sans"/>
              <a:sym typeface="Comic Sans"/>
            </a:endParaRPr>
          </a:p>
        </p:txBody>
      </p:sp>
      <p:grpSp>
        <p:nvGrpSpPr>
          <p:cNvPr id="14" name="Group 14"/>
          <p:cNvGrpSpPr/>
          <p:nvPr/>
        </p:nvGrpSpPr>
        <p:grpSpPr>
          <a:xfrm>
            <a:off x="15042849" y="334869"/>
            <a:ext cx="2744013" cy="745256"/>
            <a:chOff x="0" y="0"/>
            <a:chExt cx="3658684" cy="99367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32935" cy="993675"/>
            </a:xfrm>
            <a:custGeom>
              <a:avLst/>
              <a:gdLst/>
              <a:ahLst/>
              <a:cxnLst/>
              <a:rect l="l" t="t" r="r" b="b"/>
              <a:pathLst>
                <a:path w="832935" h="993675">
                  <a:moveTo>
                    <a:pt x="0" y="0"/>
                  </a:moveTo>
                  <a:lnTo>
                    <a:pt x="832935" y="0"/>
                  </a:lnTo>
                  <a:lnTo>
                    <a:pt x="832935" y="993675"/>
                  </a:lnTo>
                  <a:lnTo>
                    <a:pt x="0" y="993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1070" t="-27596" r="-13168" b="-31460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946119" y="144465"/>
              <a:ext cx="2356744" cy="5625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20"/>
                </a:lnSpc>
                <a:spcBef>
                  <a:spcPct val="0"/>
                </a:spcBef>
              </a:pPr>
              <a:r>
                <a:rPr lang="en-US" sz="2300" spc="149">
                  <a:solidFill>
                    <a:srgbClr val="FFFFFF"/>
                  </a:solidFill>
                  <a:latin typeface="Copperplate Gothic 32 AB Bold"/>
                  <a:ea typeface="Copperplate Gothic 32 AB Bold"/>
                  <a:cs typeface="Copperplate Gothic 32 AB Bold"/>
                  <a:sym typeface="Copperplate Gothic 32 AB Bold"/>
                </a:rPr>
                <a:t>CIPHER 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91558" y="676707"/>
              <a:ext cx="2967126" cy="1986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76"/>
                </a:lnSpc>
                <a:spcBef>
                  <a:spcPct val="0"/>
                </a:spcBef>
              </a:pPr>
              <a:r>
                <a:rPr lang="en-US" sz="840" spc="54">
                  <a:solidFill>
                    <a:srgbClr val="FFFFFF"/>
                  </a:solidFill>
                  <a:latin typeface="Copperplate Gothic 32 BC"/>
                  <a:ea typeface="Copperplate Gothic 32 BC"/>
                  <a:cs typeface="Copperplate Gothic 32 BC"/>
                  <a:sym typeface="Copperplate Gothic 32 BC"/>
                </a:rPr>
                <a:t>IT STUDENTS’ EXECUTIVE COUNCIL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7786862" y="9660062"/>
            <a:ext cx="205532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Gagalin"/>
                <a:ea typeface="Gagalin"/>
                <a:cs typeface="Gagalin"/>
                <a:sym typeface="Gagalin"/>
              </a:rPr>
              <a:t>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16543" y="3811697"/>
            <a:ext cx="5727799" cy="539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4"/>
              </a:lnSpc>
              <a:spcBef>
                <a:spcPct val="0"/>
              </a:spcBef>
            </a:pPr>
            <a:r>
              <a:rPr lang="en-US" sz="3153">
                <a:solidFill>
                  <a:srgbClr val="FFDE59"/>
                </a:solidFill>
                <a:latin typeface="Gagalin"/>
                <a:ea typeface="Gagalin"/>
                <a:cs typeface="Gagalin"/>
                <a:sym typeface="Gagalin"/>
              </a:rPr>
              <a:t>What Problem Are You Solving?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548949" y="1873057"/>
            <a:ext cx="4509641" cy="697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74"/>
              </a:lnSpc>
              <a:spcBef>
                <a:spcPct val="0"/>
              </a:spcBef>
            </a:pPr>
            <a:r>
              <a:rPr lang="en-US" sz="4053">
                <a:solidFill>
                  <a:srgbClr val="FFFFFF"/>
                </a:solidFill>
                <a:latin typeface="Gagalin"/>
                <a:ea typeface="Gagalin"/>
                <a:cs typeface="Gagalin"/>
                <a:sym typeface="Gagalin"/>
              </a:rPr>
              <a:t>Problem Statement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493374" y="9832687"/>
            <a:ext cx="3083970" cy="27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7"/>
              </a:lnSpc>
              <a:spcBef>
                <a:spcPct val="0"/>
              </a:spcBef>
            </a:pPr>
            <a:r>
              <a:rPr lang="en-US" sz="1619">
                <a:solidFill>
                  <a:srgbClr val="38B6FF"/>
                </a:solidFill>
                <a:latin typeface="Gagalin"/>
                <a:ea typeface="Gagalin"/>
                <a:cs typeface="Gagalin"/>
                <a:sym typeface="Gagalin"/>
              </a:rPr>
              <a:t>Idea submission- Template1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7397943" y="165633"/>
            <a:ext cx="3274833" cy="1083728"/>
            <a:chOff x="0" y="0"/>
            <a:chExt cx="4366444" cy="1444971"/>
          </a:xfrm>
        </p:grpSpPr>
        <p:sp>
          <p:nvSpPr>
            <p:cNvPr id="23" name="TextBox 23"/>
            <p:cNvSpPr txBox="1"/>
            <p:nvPr/>
          </p:nvSpPr>
          <p:spPr>
            <a:xfrm>
              <a:off x="0" y="-142875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FFDE59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8219" y="-78472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38B6FF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3321" y="-106547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FF5757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340520" y="415474"/>
              <a:ext cx="1025923" cy="9650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044"/>
                </a:lnSpc>
                <a:spcBef>
                  <a:spcPct val="0"/>
                </a:spcBef>
              </a:pPr>
              <a:r>
                <a:rPr lang="en-US" sz="4317">
                  <a:solidFill>
                    <a:srgbClr val="FFDE59"/>
                  </a:solidFill>
                  <a:latin typeface="Bangers"/>
                  <a:ea typeface="Bangers"/>
                  <a:cs typeface="Bangers"/>
                  <a:sym typeface="Bangers"/>
                </a:rPr>
                <a:t>1.0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6" r="-116" b="-23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0000">
                <a:alpha val="49804"/>
              </a:srgbClr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9612716"/>
            <a:ext cx="18288000" cy="674284"/>
            <a:chOff x="0" y="0"/>
            <a:chExt cx="4816593" cy="1775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177589"/>
            </a:xfrm>
            <a:custGeom>
              <a:avLst/>
              <a:gdLst/>
              <a:ahLst/>
              <a:cxnLst/>
              <a:rect l="l" t="t" r="r" b="b"/>
              <a:pathLst>
                <a:path w="4816592" h="177589">
                  <a:moveTo>
                    <a:pt x="0" y="0"/>
                  </a:moveTo>
                  <a:lnTo>
                    <a:pt x="4816592" y="0"/>
                  </a:lnTo>
                  <a:lnTo>
                    <a:pt x="4816592" y="177589"/>
                  </a:lnTo>
                  <a:lnTo>
                    <a:pt x="0" y="177589"/>
                  </a:lnTo>
                  <a:close/>
                </a:path>
              </a:pathLst>
            </a:custGeom>
            <a:solidFill>
              <a:srgbClr val="000000">
                <a:alpha val="18824"/>
              </a:srgbClr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2156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0"/>
            <a:ext cx="18288000" cy="1387754"/>
            <a:chOff x="0" y="0"/>
            <a:chExt cx="4816593" cy="36549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816592" cy="365499"/>
            </a:xfrm>
            <a:custGeom>
              <a:avLst/>
              <a:gdLst/>
              <a:ahLst/>
              <a:cxnLst/>
              <a:rect l="l" t="t" r="r" b="b"/>
              <a:pathLst>
                <a:path w="4816592" h="365499">
                  <a:moveTo>
                    <a:pt x="0" y="0"/>
                  </a:moveTo>
                  <a:lnTo>
                    <a:pt x="4816592" y="0"/>
                  </a:lnTo>
                  <a:lnTo>
                    <a:pt x="4816592" y="365499"/>
                  </a:lnTo>
                  <a:lnTo>
                    <a:pt x="0" y="365499"/>
                  </a:lnTo>
                  <a:close/>
                </a:path>
              </a:pathLst>
            </a:custGeom>
            <a:solidFill>
              <a:srgbClr val="000000">
                <a:alpha val="19608"/>
              </a:srgbClr>
            </a:solidFill>
            <a:ln w="57150" cap="sq">
              <a:solidFill>
                <a:srgbClr val="000000">
                  <a:alpha val="19608"/>
                </a:srgbClr>
              </a:solidFill>
              <a:prstDash val="solid"/>
              <a:miter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4816593" cy="4035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028700" y="3602402"/>
            <a:ext cx="5906062" cy="1132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4"/>
              </a:lnSpc>
              <a:spcBef>
                <a:spcPct val="0"/>
              </a:spcBef>
            </a:pPr>
            <a:r>
              <a:rPr lang="en-US" sz="3253">
                <a:solidFill>
                  <a:srgbClr val="FFDE59"/>
                </a:solidFill>
                <a:latin typeface="Gagalin"/>
                <a:ea typeface="Gagalin"/>
                <a:cs typeface="Gagalin"/>
                <a:sym typeface="Gagalin"/>
              </a:rPr>
              <a:t>• Brief description of your idea</a:t>
            </a:r>
          </a:p>
          <a:p>
            <a:pPr algn="ctr">
              <a:lnSpc>
                <a:spcPts val="4554"/>
              </a:lnSpc>
              <a:spcBef>
                <a:spcPct val="0"/>
              </a:spcBef>
            </a:pPr>
            <a:endParaRPr lang="en-US" sz="3253">
              <a:solidFill>
                <a:srgbClr val="FFDE59"/>
              </a:solidFill>
              <a:latin typeface="Gagalin"/>
              <a:ea typeface="Gagalin"/>
              <a:cs typeface="Gagalin"/>
              <a:sym typeface="Gagalin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7789020" y="9660062"/>
            <a:ext cx="201216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Gagalin"/>
                <a:ea typeface="Gagalin"/>
                <a:cs typeface="Gagalin"/>
                <a:sym typeface="Gagalin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819491" y="1873057"/>
            <a:ext cx="7968555" cy="697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74"/>
              </a:lnSpc>
              <a:spcBef>
                <a:spcPct val="0"/>
              </a:spcBef>
            </a:pPr>
            <a:r>
              <a:rPr lang="en-US" sz="4053">
                <a:solidFill>
                  <a:srgbClr val="FFFFFF"/>
                </a:solidFill>
                <a:latin typeface="Gagalin"/>
                <a:ea typeface="Gagalin"/>
                <a:cs typeface="Gagalin"/>
                <a:sym typeface="Gagalin"/>
              </a:rPr>
              <a:t>Proposed Solution / Your Solution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" y="5542884"/>
            <a:ext cx="7598271" cy="555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4"/>
              </a:lnSpc>
              <a:spcBef>
                <a:spcPct val="0"/>
              </a:spcBef>
            </a:pPr>
            <a:r>
              <a:rPr lang="en-US" sz="3253">
                <a:solidFill>
                  <a:srgbClr val="FFDE59"/>
                </a:solidFill>
                <a:latin typeface="Gagalin"/>
                <a:ea typeface="Gagalin"/>
                <a:cs typeface="Gagalin"/>
                <a:sym typeface="Gagalin"/>
              </a:rPr>
              <a:t> • How your solution solves the problem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8700" y="7460528"/>
            <a:ext cx="5982146" cy="555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4"/>
              </a:lnSpc>
              <a:spcBef>
                <a:spcPct val="0"/>
              </a:spcBef>
            </a:pPr>
            <a:r>
              <a:rPr lang="en-US" sz="3253">
                <a:solidFill>
                  <a:srgbClr val="FFDE59"/>
                </a:solidFill>
                <a:latin typeface="Gagalin"/>
                <a:ea typeface="Gagalin"/>
                <a:cs typeface="Gagalin"/>
                <a:sym typeface="Gagalin"/>
              </a:rPr>
              <a:t>• Key features of your solution</a:t>
            </a:r>
          </a:p>
        </p:txBody>
      </p:sp>
      <p:sp>
        <p:nvSpPr>
          <p:cNvPr id="17" name="Freeform 17"/>
          <p:cNvSpPr/>
          <p:nvPr/>
        </p:nvSpPr>
        <p:spPr>
          <a:xfrm>
            <a:off x="230308" y="179485"/>
            <a:ext cx="3140115" cy="1083728"/>
          </a:xfrm>
          <a:custGeom>
            <a:avLst/>
            <a:gdLst/>
            <a:ahLst/>
            <a:cxnLst/>
            <a:rect l="l" t="t" r="r" b="b"/>
            <a:pathLst>
              <a:path w="3140115" h="1083728">
                <a:moveTo>
                  <a:pt x="0" y="0"/>
                </a:moveTo>
                <a:lnTo>
                  <a:pt x="3140115" y="0"/>
                </a:lnTo>
                <a:lnTo>
                  <a:pt x="3140115" y="1083729"/>
                </a:lnTo>
                <a:lnTo>
                  <a:pt x="0" y="10837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17991"/>
            </a:stretch>
          </a:blipFill>
        </p:spPr>
      </p:sp>
      <p:grpSp>
        <p:nvGrpSpPr>
          <p:cNvPr id="18" name="Group 18"/>
          <p:cNvGrpSpPr/>
          <p:nvPr/>
        </p:nvGrpSpPr>
        <p:grpSpPr>
          <a:xfrm>
            <a:off x="15042849" y="334869"/>
            <a:ext cx="2744013" cy="745256"/>
            <a:chOff x="0" y="0"/>
            <a:chExt cx="3658684" cy="99367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832935" cy="993675"/>
            </a:xfrm>
            <a:custGeom>
              <a:avLst/>
              <a:gdLst/>
              <a:ahLst/>
              <a:cxnLst/>
              <a:rect l="l" t="t" r="r" b="b"/>
              <a:pathLst>
                <a:path w="832935" h="993675">
                  <a:moveTo>
                    <a:pt x="0" y="0"/>
                  </a:moveTo>
                  <a:lnTo>
                    <a:pt x="832935" y="0"/>
                  </a:lnTo>
                  <a:lnTo>
                    <a:pt x="832935" y="993675"/>
                  </a:lnTo>
                  <a:lnTo>
                    <a:pt x="0" y="993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1070" t="-27596" r="-13168" b="-31460"/>
              </a:stretch>
            </a:blipFill>
          </p:spPr>
        </p:sp>
        <p:sp>
          <p:nvSpPr>
            <p:cNvPr id="20" name="TextBox 20"/>
            <p:cNvSpPr txBox="1"/>
            <p:nvPr/>
          </p:nvSpPr>
          <p:spPr>
            <a:xfrm>
              <a:off x="946119" y="144465"/>
              <a:ext cx="2356744" cy="5625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20"/>
                </a:lnSpc>
                <a:spcBef>
                  <a:spcPct val="0"/>
                </a:spcBef>
              </a:pPr>
              <a:r>
                <a:rPr lang="en-US" sz="2300" spc="149">
                  <a:solidFill>
                    <a:srgbClr val="FFFFFF"/>
                  </a:solidFill>
                  <a:latin typeface="Copperplate Gothic 32 AB Bold"/>
                  <a:ea typeface="Copperplate Gothic 32 AB Bold"/>
                  <a:cs typeface="Copperplate Gothic 32 AB Bold"/>
                  <a:sym typeface="Copperplate Gothic 32 AB Bold"/>
                </a:rPr>
                <a:t>CIPHER 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91558" y="676707"/>
              <a:ext cx="2967126" cy="1986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76"/>
                </a:lnSpc>
                <a:spcBef>
                  <a:spcPct val="0"/>
                </a:spcBef>
              </a:pPr>
              <a:r>
                <a:rPr lang="en-US" sz="840" spc="54">
                  <a:solidFill>
                    <a:srgbClr val="FFFFFF"/>
                  </a:solidFill>
                  <a:latin typeface="Copperplate Gothic 32 BC"/>
                  <a:ea typeface="Copperplate Gothic 32 BC"/>
                  <a:cs typeface="Copperplate Gothic 32 BC"/>
                  <a:sym typeface="Copperplate Gothic 32 BC"/>
                </a:rPr>
                <a:t>IT STUDENTS’ EXECUTIVE COUNCIL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493374" y="9832687"/>
            <a:ext cx="3083970" cy="27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7"/>
              </a:lnSpc>
              <a:spcBef>
                <a:spcPct val="0"/>
              </a:spcBef>
            </a:pPr>
            <a:r>
              <a:rPr lang="en-US" sz="1619">
                <a:solidFill>
                  <a:srgbClr val="38B6FF"/>
                </a:solidFill>
                <a:latin typeface="Gagalin"/>
                <a:ea typeface="Gagalin"/>
                <a:cs typeface="Gagalin"/>
                <a:sym typeface="Gagalin"/>
              </a:rPr>
              <a:t>Idea submission- Template1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7397943" y="165633"/>
            <a:ext cx="3274833" cy="1083728"/>
            <a:chOff x="0" y="0"/>
            <a:chExt cx="4366444" cy="1444971"/>
          </a:xfrm>
        </p:grpSpPr>
        <p:sp>
          <p:nvSpPr>
            <p:cNvPr id="24" name="TextBox 24"/>
            <p:cNvSpPr txBox="1"/>
            <p:nvPr/>
          </p:nvSpPr>
          <p:spPr>
            <a:xfrm>
              <a:off x="0" y="-142875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FFDE59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8219" y="-78472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38B6FF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3321" y="-106547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FF5757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340520" y="415474"/>
              <a:ext cx="1025923" cy="9650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044"/>
                </a:lnSpc>
                <a:spcBef>
                  <a:spcPct val="0"/>
                </a:spcBef>
              </a:pPr>
              <a:r>
                <a:rPr lang="en-US" sz="4317">
                  <a:solidFill>
                    <a:srgbClr val="FFDE59"/>
                  </a:solidFill>
                  <a:latin typeface="Bangers"/>
                  <a:ea typeface="Bangers"/>
                  <a:cs typeface="Bangers"/>
                  <a:sym typeface="Bangers"/>
                </a:rPr>
                <a:t>1.0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6" r="-116" b="-23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0000">
                <a:alpha val="49804"/>
              </a:srgbClr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9612716"/>
            <a:ext cx="18288000" cy="674284"/>
            <a:chOff x="0" y="0"/>
            <a:chExt cx="4816593" cy="1775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177589"/>
            </a:xfrm>
            <a:custGeom>
              <a:avLst/>
              <a:gdLst/>
              <a:ahLst/>
              <a:cxnLst/>
              <a:rect l="l" t="t" r="r" b="b"/>
              <a:pathLst>
                <a:path w="4816592" h="177589">
                  <a:moveTo>
                    <a:pt x="0" y="0"/>
                  </a:moveTo>
                  <a:lnTo>
                    <a:pt x="4816592" y="0"/>
                  </a:lnTo>
                  <a:lnTo>
                    <a:pt x="4816592" y="177589"/>
                  </a:lnTo>
                  <a:lnTo>
                    <a:pt x="0" y="177589"/>
                  </a:lnTo>
                  <a:close/>
                </a:path>
              </a:pathLst>
            </a:custGeom>
            <a:solidFill>
              <a:srgbClr val="000000">
                <a:alpha val="18824"/>
              </a:srgbClr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2156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0"/>
            <a:ext cx="18288000" cy="1387754"/>
            <a:chOff x="0" y="0"/>
            <a:chExt cx="4816593" cy="36549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816592" cy="365499"/>
            </a:xfrm>
            <a:custGeom>
              <a:avLst/>
              <a:gdLst/>
              <a:ahLst/>
              <a:cxnLst/>
              <a:rect l="l" t="t" r="r" b="b"/>
              <a:pathLst>
                <a:path w="4816592" h="365499">
                  <a:moveTo>
                    <a:pt x="0" y="0"/>
                  </a:moveTo>
                  <a:lnTo>
                    <a:pt x="4816592" y="0"/>
                  </a:lnTo>
                  <a:lnTo>
                    <a:pt x="4816592" y="365499"/>
                  </a:lnTo>
                  <a:lnTo>
                    <a:pt x="0" y="365499"/>
                  </a:lnTo>
                  <a:close/>
                </a:path>
              </a:pathLst>
            </a:custGeom>
            <a:solidFill>
              <a:srgbClr val="000000">
                <a:alpha val="19608"/>
              </a:srgbClr>
            </a:solidFill>
            <a:ln w="57150" cap="sq">
              <a:solidFill>
                <a:srgbClr val="000000">
                  <a:alpha val="19608"/>
                </a:srgbClr>
              </a:solidFill>
              <a:prstDash val="solid"/>
              <a:miter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4816593" cy="4035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90260" y="3467429"/>
            <a:ext cx="4720233" cy="3984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54"/>
              </a:lnSpc>
            </a:pPr>
            <a:endParaRPr/>
          </a:p>
          <a:p>
            <a:pPr algn="l">
              <a:lnSpc>
                <a:spcPts val="4554"/>
              </a:lnSpc>
              <a:spcBef>
                <a:spcPct val="0"/>
              </a:spcBef>
            </a:pPr>
            <a:r>
              <a:rPr lang="en-US" sz="3253">
                <a:solidFill>
                  <a:srgbClr val="FFDE59"/>
                </a:solidFill>
                <a:latin typeface="Gagalin"/>
                <a:ea typeface="Gagalin"/>
                <a:cs typeface="Gagalin"/>
                <a:sym typeface="Gagalin"/>
              </a:rPr>
              <a:t>• Programming languages</a:t>
            </a:r>
          </a:p>
          <a:p>
            <a:pPr algn="l">
              <a:lnSpc>
                <a:spcPts val="4554"/>
              </a:lnSpc>
              <a:spcBef>
                <a:spcPct val="0"/>
              </a:spcBef>
            </a:pPr>
            <a:endParaRPr lang="en-US" sz="3253">
              <a:solidFill>
                <a:srgbClr val="FFDE59"/>
              </a:solidFill>
              <a:latin typeface="Gagalin"/>
              <a:ea typeface="Gagalin"/>
              <a:cs typeface="Gagalin"/>
              <a:sym typeface="Gagalin"/>
            </a:endParaRPr>
          </a:p>
          <a:p>
            <a:pPr algn="l">
              <a:lnSpc>
                <a:spcPts val="4554"/>
              </a:lnSpc>
              <a:spcBef>
                <a:spcPct val="0"/>
              </a:spcBef>
            </a:pPr>
            <a:r>
              <a:rPr lang="en-US" sz="3253">
                <a:solidFill>
                  <a:srgbClr val="FFDE59"/>
                </a:solidFill>
                <a:latin typeface="Gagalin"/>
                <a:ea typeface="Gagalin"/>
                <a:cs typeface="Gagalin"/>
                <a:sym typeface="Gagalin"/>
              </a:rPr>
              <a:t> • Frameworks / tools</a:t>
            </a:r>
          </a:p>
          <a:p>
            <a:pPr algn="l">
              <a:lnSpc>
                <a:spcPts val="4554"/>
              </a:lnSpc>
              <a:spcBef>
                <a:spcPct val="0"/>
              </a:spcBef>
            </a:pPr>
            <a:endParaRPr lang="en-US" sz="3253">
              <a:solidFill>
                <a:srgbClr val="FFDE59"/>
              </a:solidFill>
              <a:latin typeface="Gagalin"/>
              <a:ea typeface="Gagalin"/>
              <a:cs typeface="Gagalin"/>
              <a:sym typeface="Gagalin"/>
            </a:endParaRPr>
          </a:p>
          <a:p>
            <a:pPr algn="l">
              <a:lnSpc>
                <a:spcPts val="4554"/>
              </a:lnSpc>
              <a:spcBef>
                <a:spcPct val="0"/>
              </a:spcBef>
            </a:pPr>
            <a:r>
              <a:rPr lang="en-US" sz="3253">
                <a:solidFill>
                  <a:srgbClr val="FFDE59"/>
                </a:solidFill>
                <a:latin typeface="Gagalin"/>
                <a:ea typeface="Gagalin"/>
                <a:cs typeface="Gagalin"/>
                <a:sym typeface="Gagalin"/>
              </a:rPr>
              <a:t> • APIs or datasets</a:t>
            </a:r>
          </a:p>
          <a:p>
            <a:pPr algn="l">
              <a:lnSpc>
                <a:spcPts val="4554"/>
              </a:lnSpc>
              <a:spcBef>
                <a:spcPct val="0"/>
              </a:spcBef>
            </a:pPr>
            <a:endParaRPr lang="en-US" sz="3253">
              <a:solidFill>
                <a:srgbClr val="FFDE59"/>
              </a:solidFill>
              <a:latin typeface="Gagalin"/>
              <a:ea typeface="Gagalin"/>
              <a:cs typeface="Gagalin"/>
              <a:sym typeface="Gagalin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7781653" y="9660062"/>
            <a:ext cx="215950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Gagalin"/>
                <a:ea typeface="Gagalin"/>
                <a:cs typeface="Gagalin"/>
                <a:sym typeface="Gagalin"/>
              </a:rPr>
              <a:t>4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416688" y="1873057"/>
            <a:ext cx="8774162" cy="697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74"/>
              </a:lnSpc>
              <a:spcBef>
                <a:spcPct val="0"/>
              </a:spcBef>
            </a:pPr>
            <a:r>
              <a:rPr lang="en-US" sz="4053">
                <a:solidFill>
                  <a:srgbClr val="FFFFFF"/>
                </a:solidFill>
                <a:latin typeface="Gagalin"/>
                <a:ea typeface="Gagalin"/>
                <a:cs typeface="Gagalin"/>
                <a:sym typeface="Gagalin"/>
              </a:rPr>
              <a:t>Technology Stack /Technologies Used</a:t>
            </a:r>
          </a:p>
        </p:txBody>
      </p:sp>
      <p:sp>
        <p:nvSpPr>
          <p:cNvPr id="15" name="Freeform 15"/>
          <p:cNvSpPr/>
          <p:nvPr/>
        </p:nvSpPr>
        <p:spPr>
          <a:xfrm>
            <a:off x="230308" y="179485"/>
            <a:ext cx="3140115" cy="1083728"/>
          </a:xfrm>
          <a:custGeom>
            <a:avLst/>
            <a:gdLst/>
            <a:ahLst/>
            <a:cxnLst/>
            <a:rect l="l" t="t" r="r" b="b"/>
            <a:pathLst>
              <a:path w="3140115" h="1083728">
                <a:moveTo>
                  <a:pt x="0" y="0"/>
                </a:moveTo>
                <a:lnTo>
                  <a:pt x="3140115" y="0"/>
                </a:lnTo>
                <a:lnTo>
                  <a:pt x="3140115" y="1083729"/>
                </a:lnTo>
                <a:lnTo>
                  <a:pt x="0" y="10837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17991"/>
            </a:stretch>
          </a:blipFill>
        </p:spPr>
      </p:sp>
      <p:grpSp>
        <p:nvGrpSpPr>
          <p:cNvPr id="16" name="Group 16"/>
          <p:cNvGrpSpPr/>
          <p:nvPr/>
        </p:nvGrpSpPr>
        <p:grpSpPr>
          <a:xfrm>
            <a:off x="15042849" y="334869"/>
            <a:ext cx="2744013" cy="745256"/>
            <a:chOff x="0" y="0"/>
            <a:chExt cx="3658684" cy="993675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32935" cy="993675"/>
            </a:xfrm>
            <a:custGeom>
              <a:avLst/>
              <a:gdLst/>
              <a:ahLst/>
              <a:cxnLst/>
              <a:rect l="l" t="t" r="r" b="b"/>
              <a:pathLst>
                <a:path w="832935" h="993675">
                  <a:moveTo>
                    <a:pt x="0" y="0"/>
                  </a:moveTo>
                  <a:lnTo>
                    <a:pt x="832935" y="0"/>
                  </a:lnTo>
                  <a:lnTo>
                    <a:pt x="832935" y="993675"/>
                  </a:lnTo>
                  <a:lnTo>
                    <a:pt x="0" y="993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1070" t="-27596" r="-13168" b="-31460"/>
              </a:stretch>
            </a:blipFill>
          </p:spPr>
        </p:sp>
        <p:sp>
          <p:nvSpPr>
            <p:cNvPr id="18" name="TextBox 18"/>
            <p:cNvSpPr txBox="1"/>
            <p:nvPr/>
          </p:nvSpPr>
          <p:spPr>
            <a:xfrm>
              <a:off x="946119" y="144465"/>
              <a:ext cx="2356744" cy="5625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20"/>
                </a:lnSpc>
                <a:spcBef>
                  <a:spcPct val="0"/>
                </a:spcBef>
              </a:pPr>
              <a:r>
                <a:rPr lang="en-US" sz="2300" spc="149">
                  <a:solidFill>
                    <a:srgbClr val="FFFFFF"/>
                  </a:solidFill>
                  <a:latin typeface="Copperplate Gothic 32 AB Bold"/>
                  <a:ea typeface="Copperplate Gothic 32 AB Bold"/>
                  <a:cs typeface="Copperplate Gothic 32 AB Bold"/>
                  <a:sym typeface="Copperplate Gothic 32 AB Bold"/>
                </a:rPr>
                <a:t>CIPHER 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91558" y="676707"/>
              <a:ext cx="2967126" cy="1986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76"/>
                </a:lnSpc>
                <a:spcBef>
                  <a:spcPct val="0"/>
                </a:spcBef>
              </a:pPr>
              <a:r>
                <a:rPr lang="en-US" sz="840" spc="54">
                  <a:solidFill>
                    <a:srgbClr val="FFFFFF"/>
                  </a:solidFill>
                  <a:latin typeface="Copperplate Gothic 32 BC"/>
                  <a:ea typeface="Copperplate Gothic 32 BC"/>
                  <a:cs typeface="Copperplate Gothic 32 BC"/>
                  <a:sym typeface="Copperplate Gothic 32 BC"/>
                </a:rPr>
                <a:t>IT STUDENTS’ EXECUTIVE COUNCIL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493374" y="9832687"/>
            <a:ext cx="3083970" cy="27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7"/>
              </a:lnSpc>
              <a:spcBef>
                <a:spcPct val="0"/>
              </a:spcBef>
            </a:pPr>
            <a:r>
              <a:rPr lang="en-US" sz="1619">
                <a:solidFill>
                  <a:srgbClr val="38B6FF"/>
                </a:solidFill>
                <a:latin typeface="Gagalin"/>
                <a:ea typeface="Gagalin"/>
                <a:cs typeface="Gagalin"/>
                <a:sym typeface="Gagalin"/>
              </a:rPr>
              <a:t>Idea submission- Template1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7397943" y="165633"/>
            <a:ext cx="3274833" cy="1083728"/>
            <a:chOff x="0" y="0"/>
            <a:chExt cx="4366444" cy="1444971"/>
          </a:xfrm>
        </p:grpSpPr>
        <p:sp>
          <p:nvSpPr>
            <p:cNvPr id="22" name="TextBox 22"/>
            <p:cNvSpPr txBox="1"/>
            <p:nvPr/>
          </p:nvSpPr>
          <p:spPr>
            <a:xfrm>
              <a:off x="0" y="-142875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FFDE59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8219" y="-78472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38B6FF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3321" y="-106547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FF5757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340520" y="415474"/>
              <a:ext cx="1025923" cy="9650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044"/>
                </a:lnSpc>
                <a:spcBef>
                  <a:spcPct val="0"/>
                </a:spcBef>
              </a:pPr>
              <a:r>
                <a:rPr lang="en-US" sz="4317">
                  <a:solidFill>
                    <a:srgbClr val="FFDE59"/>
                  </a:solidFill>
                  <a:latin typeface="Bangers"/>
                  <a:ea typeface="Bangers"/>
                  <a:cs typeface="Bangers"/>
                  <a:sym typeface="Bangers"/>
                </a:rPr>
                <a:t>1.0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6" r="-116" b="-23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0000">
                <a:alpha val="49804"/>
              </a:srgbClr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9612716"/>
            <a:ext cx="18288000" cy="674284"/>
            <a:chOff x="0" y="0"/>
            <a:chExt cx="4816593" cy="1775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177589"/>
            </a:xfrm>
            <a:custGeom>
              <a:avLst/>
              <a:gdLst/>
              <a:ahLst/>
              <a:cxnLst/>
              <a:rect l="l" t="t" r="r" b="b"/>
              <a:pathLst>
                <a:path w="4816592" h="177589">
                  <a:moveTo>
                    <a:pt x="0" y="0"/>
                  </a:moveTo>
                  <a:lnTo>
                    <a:pt x="4816592" y="0"/>
                  </a:lnTo>
                  <a:lnTo>
                    <a:pt x="4816592" y="177589"/>
                  </a:lnTo>
                  <a:lnTo>
                    <a:pt x="0" y="177589"/>
                  </a:lnTo>
                  <a:close/>
                </a:path>
              </a:pathLst>
            </a:custGeom>
            <a:solidFill>
              <a:srgbClr val="000000">
                <a:alpha val="18824"/>
              </a:srgbClr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2156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0"/>
            <a:ext cx="18288000" cy="1387754"/>
            <a:chOff x="0" y="0"/>
            <a:chExt cx="4816593" cy="36549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816592" cy="365499"/>
            </a:xfrm>
            <a:custGeom>
              <a:avLst/>
              <a:gdLst/>
              <a:ahLst/>
              <a:cxnLst/>
              <a:rect l="l" t="t" r="r" b="b"/>
              <a:pathLst>
                <a:path w="4816592" h="365499">
                  <a:moveTo>
                    <a:pt x="0" y="0"/>
                  </a:moveTo>
                  <a:lnTo>
                    <a:pt x="4816592" y="0"/>
                  </a:lnTo>
                  <a:lnTo>
                    <a:pt x="4816592" y="365499"/>
                  </a:lnTo>
                  <a:lnTo>
                    <a:pt x="0" y="365499"/>
                  </a:lnTo>
                  <a:close/>
                </a:path>
              </a:pathLst>
            </a:custGeom>
            <a:solidFill>
              <a:srgbClr val="000000">
                <a:alpha val="19608"/>
              </a:srgbClr>
            </a:solidFill>
            <a:ln w="57150" cap="sq">
              <a:solidFill>
                <a:srgbClr val="000000">
                  <a:alpha val="19608"/>
                </a:srgbClr>
              </a:solidFill>
              <a:prstDash val="solid"/>
              <a:miter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4816593" cy="4035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085816" y="3569293"/>
            <a:ext cx="2474637" cy="558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4"/>
              </a:lnSpc>
              <a:spcBef>
                <a:spcPct val="0"/>
              </a:spcBef>
            </a:pPr>
            <a:r>
              <a:rPr lang="en-US" sz="3253">
                <a:solidFill>
                  <a:srgbClr val="FFDE59"/>
                </a:solidFill>
                <a:latin typeface="Gagalin"/>
                <a:ea typeface="Gagalin"/>
                <a:cs typeface="Gagalin"/>
                <a:sym typeface="Gagalin"/>
              </a:rPr>
              <a:t>How It Works: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7785076" y="9660062"/>
            <a:ext cx="209104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Gagalin"/>
                <a:ea typeface="Gagalin"/>
                <a:cs typeface="Gagalin"/>
                <a:sym typeface="Gagalin"/>
              </a:rPr>
              <a:t>5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878255" y="1873057"/>
            <a:ext cx="5851029" cy="697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74"/>
              </a:lnSpc>
              <a:spcBef>
                <a:spcPct val="0"/>
              </a:spcBef>
            </a:pPr>
            <a:r>
              <a:rPr lang="en-US" sz="4053">
                <a:solidFill>
                  <a:srgbClr val="FFFFFF"/>
                </a:solidFill>
                <a:latin typeface="Gagalin"/>
                <a:ea typeface="Gagalin"/>
                <a:cs typeface="Gagalin"/>
                <a:sym typeface="Gagalin"/>
              </a:rPr>
              <a:t>Implementation / Working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001835" y="4752528"/>
            <a:ext cx="6903486" cy="1994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94"/>
              </a:lnSpc>
              <a:spcBef>
                <a:spcPct val="0"/>
              </a:spcBef>
            </a:pPr>
            <a:r>
              <a:rPr lang="en-US" sz="2853">
                <a:solidFill>
                  <a:srgbClr val="FFDE59"/>
                </a:solidFill>
                <a:latin typeface="Comic Sans"/>
                <a:ea typeface="Comic Sans"/>
                <a:cs typeface="Comic Sans"/>
                <a:sym typeface="Comic Sans"/>
              </a:rPr>
              <a:t>• System workflow</a:t>
            </a:r>
          </a:p>
          <a:p>
            <a:pPr algn="just">
              <a:lnSpc>
                <a:spcPts val="3994"/>
              </a:lnSpc>
              <a:spcBef>
                <a:spcPct val="0"/>
              </a:spcBef>
            </a:pPr>
            <a:endParaRPr lang="en-US" sz="2853">
              <a:solidFill>
                <a:srgbClr val="FFDE59"/>
              </a:solidFill>
              <a:latin typeface="Comic Sans"/>
              <a:ea typeface="Comic Sans"/>
              <a:cs typeface="Comic Sans"/>
              <a:sym typeface="Comic Sans"/>
            </a:endParaRPr>
          </a:p>
          <a:p>
            <a:pPr algn="just">
              <a:lnSpc>
                <a:spcPts val="3994"/>
              </a:lnSpc>
              <a:spcBef>
                <a:spcPct val="0"/>
              </a:spcBef>
            </a:pPr>
            <a:r>
              <a:rPr lang="en-US" sz="2853">
                <a:solidFill>
                  <a:srgbClr val="FFDE59"/>
                </a:solidFill>
                <a:latin typeface="Comic Sans"/>
                <a:ea typeface="Comic Sans"/>
                <a:cs typeface="Comic Sans"/>
                <a:sym typeface="Comic Sans"/>
              </a:rPr>
              <a:t>• Steps of the solution</a:t>
            </a:r>
          </a:p>
          <a:p>
            <a:pPr algn="just">
              <a:lnSpc>
                <a:spcPts val="3994"/>
              </a:lnSpc>
              <a:spcBef>
                <a:spcPct val="0"/>
              </a:spcBef>
            </a:pPr>
            <a:endParaRPr lang="en-US" sz="2853">
              <a:solidFill>
                <a:srgbClr val="FFDE59"/>
              </a:solidFill>
              <a:latin typeface="Comic Sans"/>
              <a:ea typeface="Comic Sans"/>
              <a:cs typeface="Comic Sans"/>
              <a:sym typeface="Comic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3232465" y="4637042"/>
            <a:ext cx="3451805" cy="955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830"/>
              </a:lnSpc>
              <a:spcBef>
                <a:spcPct val="0"/>
              </a:spcBef>
            </a:pPr>
            <a:r>
              <a:rPr lang="en-US" sz="2735">
                <a:solidFill>
                  <a:srgbClr val="FFDE59"/>
                </a:solidFill>
                <a:latin typeface="Comic Sans"/>
                <a:ea typeface="Comic Sans"/>
                <a:cs typeface="Comic Sans"/>
                <a:sym typeface="Comic Sans"/>
              </a:rPr>
              <a:t> • Screenshots / diagrams / prototype</a:t>
            </a:r>
          </a:p>
        </p:txBody>
      </p:sp>
      <p:sp>
        <p:nvSpPr>
          <p:cNvPr id="17" name="Freeform 17"/>
          <p:cNvSpPr/>
          <p:nvPr/>
        </p:nvSpPr>
        <p:spPr>
          <a:xfrm>
            <a:off x="230308" y="179485"/>
            <a:ext cx="3140115" cy="1083728"/>
          </a:xfrm>
          <a:custGeom>
            <a:avLst/>
            <a:gdLst/>
            <a:ahLst/>
            <a:cxnLst/>
            <a:rect l="l" t="t" r="r" b="b"/>
            <a:pathLst>
              <a:path w="3140115" h="1083728">
                <a:moveTo>
                  <a:pt x="0" y="0"/>
                </a:moveTo>
                <a:lnTo>
                  <a:pt x="3140115" y="0"/>
                </a:lnTo>
                <a:lnTo>
                  <a:pt x="3140115" y="1083729"/>
                </a:lnTo>
                <a:lnTo>
                  <a:pt x="0" y="10837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17991"/>
            </a:stretch>
          </a:blipFill>
        </p:spPr>
      </p:sp>
      <p:grpSp>
        <p:nvGrpSpPr>
          <p:cNvPr id="18" name="Group 18"/>
          <p:cNvGrpSpPr/>
          <p:nvPr/>
        </p:nvGrpSpPr>
        <p:grpSpPr>
          <a:xfrm>
            <a:off x="15042849" y="334869"/>
            <a:ext cx="2744013" cy="745256"/>
            <a:chOff x="0" y="0"/>
            <a:chExt cx="3658684" cy="99367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832935" cy="993675"/>
            </a:xfrm>
            <a:custGeom>
              <a:avLst/>
              <a:gdLst/>
              <a:ahLst/>
              <a:cxnLst/>
              <a:rect l="l" t="t" r="r" b="b"/>
              <a:pathLst>
                <a:path w="832935" h="993675">
                  <a:moveTo>
                    <a:pt x="0" y="0"/>
                  </a:moveTo>
                  <a:lnTo>
                    <a:pt x="832935" y="0"/>
                  </a:lnTo>
                  <a:lnTo>
                    <a:pt x="832935" y="993675"/>
                  </a:lnTo>
                  <a:lnTo>
                    <a:pt x="0" y="993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1070" t="-27596" r="-13168" b="-31460"/>
              </a:stretch>
            </a:blipFill>
          </p:spPr>
        </p:sp>
        <p:sp>
          <p:nvSpPr>
            <p:cNvPr id="20" name="TextBox 20"/>
            <p:cNvSpPr txBox="1"/>
            <p:nvPr/>
          </p:nvSpPr>
          <p:spPr>
            <a:xfrm>
              <a:off x="946119" y="144465"/>
              <a:ext cx="2356744" cy="5625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20"/>
                </a:lnSpc>
                <a:spcBef>
                  <a:spcPct val="0"/>
                </a:spcBef>
              </a:pPr>
              <a:r>
                <a:rPr lang="en-US" sz="2300" spc="149">
                  <a:solidFill>
                    <a:srgbClr val="FFFFFF"/>
                  </a:solidFill>
                  <a:latin typeface="Copperplate Gothic 32 AB Bold"/>
                  <a:ea typeface="Copperplate Gothic 32 AB Bold"/>
                  <a:cs typeface="Copperplate Gothic 32 AB Bold"/>
                  <a:sym typeface="Copperplate Gothic 32 AB Bold"/>
                </a:rPr>
                <a:t>CIPHER 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91558" y="676707"/>
              <a:ext cx="2967126" cy="1986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76"/>
                </a:lnSpc>
                <a:spcBef>
                  <a:spcPct val="0"/>
                </a:spcBef>
              </a:pPr>
              <a:r>
                <a:rPr lang="en-US" sz="840" spc="54">
                  <a:solidFill>
                    <a:srgbClr val="FFFFFF"/>
                  </a:solidFill>
                  <a:latin typeface="Copperplate Gothic 32 BC"/>
                  <a:ea typeface="Copperplate Gothic 32 BC"/>
                  <a:cs typeface="Copperplate Gothic 32 BC"/>
                  <a:sym typeface="Copperplate Gothic 32 BC"/>
                </a:rPr>
                <a:t>IT STUDENTS’ EXECUTIVE COUNCIL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493374" y="9832687"/>
            <a:ext cx="3083970" cy="27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7"/>
              </a:lnSpc>
              <a:spcBef>
                <a:spcPct val="0"/>
              </a:spcBef>
            </a:pPr>
            <a:r>
              <a:rPr lang="en-US" sz="1619">
                <a:solidFill>
                  <a:srgbClr val="38B6FF"/>
                </a:solidFill>
                <a:latin typeface="Gagalin"/>
                <a:ea typeface="Gagalin"/>
                <a:cs typeface="Gagalin"/>
                <a:sym typeface="Gagalin"/>
              </a:rPr>
              <a:t>Idea submission- Template1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7397943" y="165633"/>
            <a:ext cx="3274833" cy="1083728"/>
            <a:chOff x="0" y="0"/>
            <a:chExt cx="4366444" cy="1444971"/>
          </a:xfrm>
        </p:grpSpPr>
        <p:sp>
          <p:nvSpPr>
            <p:cNvPr id="24" name="TextBox 24"/>
            <p:cNvSpPr txBox="1"/>
            <p:nvPr/>
          </p:nvSpPr>
          <p:spPr>
            <a:xfrm>
              <a:off x="0" y="-142875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FFDE59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8219" y="-78472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38B6FF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3321" y="-106547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FF5757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340520" y="415474"/>
              <a:ext cx="1025923" cy="9650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044"/>
                </a:lnSpc>
                <a:spcBef>
                  <a:spcPct val="0"/>
                </a:spcBef>
              </a:pPr>
              <a:r>
                <a:rPr lang="en-US" sz="4317">
                  <a:solidFill>
                    <a:srgbClr val="FFDE59"/>
                  </a:solidFill>
                  <a:latin typeface="Bangers"/>
                  <a:ea typeface="Bangers"/>
                  <a:cs typeface="Bangers"/>
                  <a:sym typeface="Bangers"/>
                </a:rPr>
                <a:t>1.0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6" r="-116" b="-23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0000">
                <a:alpha val="49804"/>
              </a:srgbClr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9612716"/>
            <a:ext cx="18288000" cy="674284"/>
            <a:chOff x="0" y="0"/>
            <a:chExt cx="4816593" cy="1775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177589"/>
            </a:xfrm>
            <a:custGeom>
              <a:avLst/>
              <a:gdLst/>
              <a:ahLst/>
              <a:cxnLst/>
              <a:rect l="l" t="t" r="r" b="b"/>
              <a:pathLst>
                <a:path w="4816592" h="177589">
                  <a:moveTo>
                    <a:pt x="0" y="0"/>
                  </a:moveTo>
                  <a:lnTo>
                    <a:pt x="4816592" y="0"/>
                  </a:lnTo>
                  <a:lnTo>
                    <a:pt x="4816592" y="177589"/>
                  </a:lnTo>
                  <a:lnTo>
                    <a:pt x="0" y="177589"/>
                  </a:lnTo>
                  <a:close/>
                </a:path>
              </a:pathLst>
            </a:custGeom>
            <a:solidFill>
              <a:srgbClr val="000000">
                <a:alpha val="18824"/>
              </a:srgbClr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2156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0"/>
            <a:ext cx="18288000" cy="1387754"/>
            <a:chOff x="0" y="0"/>
            <a:chExt cx="4816593" cy="36549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816592" cy="365499"/>
            </a:xfrm>
            <a:custGeom>
              <a:avLst/>
              <a:gdLst/>
              <a:ahLst/>
              <a:cxnLst/>
              <a:rect l="l" t="t" r="r" b="b"/>
              <a:pathLst>
                <a:path w="4816592" h="365499">
                  <a:moveTo>
                    <a:pt x="0" y="0"/>
                  </a:moveTo>
                  <a:lnTo>
                    <a:pt x="4816592" y="0"/>
                  </a:lnTo>
                  <a:lnTo>
                    <a:pt x="4816592" y="365499"/>
                  </a:lnTo>
                  <a:lnTo>
                    <a:pt x="0" y="365499"/>
                  </a:lnTo>
                  <a:close/>
                </a:path>
              </a:pathLst>
            </a:custGeom>
            <a:solidFill>
              <a:srgbClr val="000000">
                <a:alpha val="19608"/>
              </a:srgbClr>
            </a:solidFill>
            <a:ln w="57150" cap="sq">
              <a:solidFill>
                <a:srgbClr val="000000">
                  <a:alpha val="19608"/>
                </a:srgbClr>
              </a:solidFill>
              <a:prstDash val="solid"/>
              <a:miter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4816593" cy="4035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404625" y="2958506"/>
            <a:ext cx="4857304" cy="6270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54"/>
              </a:lnSpc>
            </a:pPr>
            <a:endParaRPr/>
          </a:p>
          <a:p>
            <a:pPr algn="l">
              <a:lnSpc>
                <a:spcPts val="4554"/>
              </a:lnSpc>
              <a:spcBef>
                <a:spcPct val="0"/>
              </a:spcBef>
            </a:pPr>
            <a:r>
              <a:rPr lang="en-US" sz="3253">
                <a:solidFill>
                  <a:srgbClr val="FFDE59"/>
                </a:solidFill>
                <a:latin typeface="Gagalin"/>
                <a:ea typeface="Gagalin"/>
                <a:cs typeface="Gagalin"/>
                <a:sym typeface="Gagalin"/>
              </a:rPr>
              <a:t>• Benefits of the solution</a:t>
            </a:r>
          </a:p>
          <a:p>
            <a:pPr algn="l">
              <a:lnSpc>
                <a:spcPts val="4554"/>
              </a:lnSpc>
              <a:spcBef>
                <a:spcPct val="0"/>
              </a:spcBef>
            </a:pPr>
            <a:endParaRPr lang="en-US" sz="3253">
              <a:solidFill>
                <a:srgbClr val="FFDE59"/>
              </a:solidFill>
              <a:latin typeface="Gagalin"/>
              <a:ea typeface="Gagalin"/>
              <a:cs typeface="Gagalin"/>
              <a:sym typeface="Gagalin"/>
            </a:endParaRPr>
          </a:p>
          <a:p>
            <a:pPr algn="l">
              <a:lnSpc>
                <a:spcPts val="4554"/>
              </a:lnSpc>
              <a:spcBef>
                <a:spcPct val="0"/>
              </a:spcBef>
            </a:pPr>
            <a:r>
              <a:rPr lang="en-US" sz="3253">
                <a:solidFill>
                  <a:srgbClr val="FFDE59"/>
                </a:solidFill>
                <a:latin typeface="Gagalin"/>
                <a:ea typeface="Gagalin"/>
                <a:cs typeface="Gagalin"/>
                <a:sym typeface="Gagalin"/>
              </a:rPr>
              <a:t>• Target users </a:t>
            </a:r>
          </a:p>
          <a:p>
            <a:pPr algn="l">
              <a:lnSpc>
                <a:spcPts val="4554"/>
              </a:lnSpc>
              <a:spcBef>
                <a:spcPct val="0"/>
              </a:spcBef>
            </a:pPr>
            <a:endParaRPr lang="en-US" sz="3253">
              <a:solidFill>
                <a:srgbClr val="FFDE59"/>
              </a:solidFill>
              <a:latin typeface="Gagalin"/>
              <a:ea typeface="Gagalin"/>
              <a:cs typeface="Gagalin"/>
              <a:sym typeface="Gagalin"/>
            </a:endParaRPr>
          </a:p>
          <a:p>
            <a:pPr algn="l">
              <a:lnSpc>
                <a:spcPts val="4554"/>
              </a:lnSpc>
              <a:spcBef>
                <a:spcPct val="0"/>
              </a:spcBef>
            </a:pPr>
            <a:r>
              <a:rPr lang="en-US" sz="3253">
                <a:solidFill>
                  <a:srgbClr val="FFDE59"/>
                </a:solidFill>
                <a:latin typeface="Gagalin"/>
                <a:ea typeface="Gagalin"/>
                <a:cs typeface="Gagalin"/>
                <a:sym typeface="Gagalin"/>
              </a:rPr>
              <a:t>• Future Scope</a:t>
            </a:r>
          </a:p>
          <a:p>
            <a:pPr algn="l">
              <a:lnSpc>
                <a:spcPts val="4554"/>
              </a:lnSpc>
              <a:spcBef>
                <a:spcPct val="0"/>
              </a:spcBef>
            </a:pPr>
            <a:endParaRPr lang="en-US" sz="3253">
              <a:solidFill>
                <a:srgbClr val="FFDE59"/>
              </a:solidFill>
              <a:latin typeface="Gagalin"/>
              <a:ea typeface="Gagalin"/>
              <a:cs typeface="Gagalin"/>
              <a:sym typeface="Gagalin"/>
            </a:endParaRPr>
          </a:p>
          <a:p>
            <a:pPr algn="l">
              <a:lnSpc>
                <a:spcPts val="4554"/>
              </a:lnSpc>
              <a:spcBef>
                <a:spcPct val="0"/>
              </a:spcBef>
            </a:pPr>
            <a:r>
              <a:rPr lang="en-US" sz="3253">
                <a:solidFill>
                  <a:srgbClr val="FFDE59"/>
                </a:solidFill>
                <a:latin typeface="Gagalin"/>
                <a:ea typeface="Gagalin"/>
                <a:cs typeface="Gagalin"/>
                <a:sym typeface="Gagalin"/>
              </a:rPr>
              <a:t>• Possible improvements</a:t>
            </a:r>
          </a:p>
          <a:p>
            <a:pPr algn="l">
              <a:lnSpc>
                <a:spcPts val="4554"/>
              </a:lnSpc>
              <a:spcBef>
                <a:spcPct val="0"/>
              </a:spcBef>
            </a:pPr>
            <a:r>
              <a:rPr lang="en-US" sz="3253">
                <a:solidFill>
                  <a:srgbClr val="FFDE59"/>
                </a:solidFill>
                <a:latin typeface="Gagalin"/>
                <a:ea typeface="Gagalin"/>
                <a:cs typeface="Gagalin"/>
                <a:sym typeface="Gagalin"/>
              </a:rPr>
              <a:t> </a:t>
            </a:r>
          </a:p>
          <a:p>
            <a:pPr algn="l">
              <a:lnSpc>
                <a:spcPts val="4554"/>
              </a:lnSpc>
              <a:spcBef>
                <a:spcPct val="0"/>
              </a:spcBef>
            </a:pPr>
            <a:r>
              <a:rPr lang="en-US" sz="3253">
                <a:solidFill>
                  <a:srgbClr val="FFDE59"/>
                </a:solidFill>
                <a:latin typeface="Gagalin"/>
                <a:ea typeface="Gagalin"/>
                <a:cs typeface="Gagalin"/>
                <a:sym typeface="Gagalin"/>
              </a:rPr>
              <a:t>• Scalability</a:t>
            </a:r>
          </a:p>
          <a:p>
            <a:pPr algn="l">
              <a:lnSpc>
                <a:spcPts val="4554"/>
              </a:lnSpc>
              <a:spcBef>
                <a:spcPct val="0"/>
              </a:spcBef>
            </a:pPr>
            <a:endParaRPr lang="en-US" sz="3253">
              <a:solidFill>
                <a:srgbClr val="FFDE59"/>
              </a:solidFill>
              <a:latin typeface="Gagalin"/>
              <a:ea typeface="Gagalin"/>
              <a:cs typeface="Gagalin"/>
              <a:sym typeface="Gagalin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7781653" y="9660062"/>
            <a:ext cx="215950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Gagalin"/>
                <a:ea typeface="Gagalin"/>
                <a:cs typeface="Gagalin"/>
                <a:sym typeface="Gagalin"/>
              </a:rPr>
              <a:t>6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430112" y="1873057"/>
            <a:ext cx="8421531" cy="141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74"/>
              </a:lnSpc>
              <a:spcBef>
                <a:spcPct val="0"/>
              </a:spcBef>
            </a:pPr>
            <a:r>
              <a:rPr lang="en-US" sz="4053">
                <a:solidFill>
                  <a:srgbClr val="FFFFFF"/>
                </a:solidFill>
                <a:latin typeface="Gagalin"/>
                <a:ea typeface="Gagalin"/>
                <a:cs typeface="Gagalin"/>
                <a:sym typeface="Gagalin"/>
              </a:rPr>
              <a:t>Impact &amp; Future Scope Impact</a:t>
            </a:r>
          </a:p>
          <a:p>
            <a:pPr algn="ctr">
              <a:lnSpc>
                <a:spcPts val="5674"/>
              </a:lnSpc>
              <a:spcBef>
                <a:spcPct val="0"/>
              </a:spcBef>
            </a:pPr>
            <a:endParaRPr lang="en-US" sz="4053">
              <a:solidFill>
                <a:srgbClr val="FFFFFF"/>
              </a:solidFill>
              <a:latin typeface="Gagalin"/>
              <a:ea typeface="Gagalin"/>
              <a:cs typeface="Gagalin"/>
              <a:sym typeface="Gagalin"/>
            </a:endParaRPr>
          </a:p>
        </p:txBody>
      </p:sp>
      <p:sp>
        <p:nvSpPr>
          <p:cNvPr id="15" name="Freeform 15"/>
          <p:cNvSpPr/>
          <p:nvPr/>
        </p:nvSpPr>
        <p:spPr>
          <a:xfrm>
            <a:off x="230308" y="179485"/>
            <a:ext cx="3140115" cy="1083728"/>
          </a:xfrm>
          <a:custGeom>
            <a:avLst/>
            <a:gdLst/>
            <a:ahLst/>
            <a:cxnLst/>
            <a:rect l="l" t="t" r="r" b="b"/>
            <a:pathLst>
              <a:path w="3140115" h="1083728">
                <a:moveTo>
                  <a:pt x="0" y="0"/>
                </a:moveTo>
                <a:lnTo>
                  <a:pt x="3140115" y="0"/>
                </a:lnTo>
                <a:lnTo>
                  <a:pt x="3140115" y="1083729"/>
                </a:lnTo>
                <a:lnTo>
                  <a:pt x="0" y="10837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17991"/>
            </a:stretch>
          </a:blipFill>
        </p:spPr>
      </p:sp>
      <p:grpSp>
        <p:nvGrpSpPr>
          <p:cNvPr id="16" name="Group 16"/>
          <p:cNvGrpSpPr/>
          <p:nvPr/>
        </p:nvGrpSpPr>
        <p:grpSpPr>
          <a:xfrm>
            <a:off x="15042849" y="334869"/>
            <a:ext cx="2744013" cy="745256"/>
            <a:chOff x="0" y="0"/>
            <a:chExt cx="3658684" cy="993675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32935" cy="993675"/>
            </a:xfrm>
            <a:custGeom>
              <a:avLst/>
              <a:gdLst/>
              <a:ahLst/>
              <a:cxnLst/>
              <a:rect l="l" t="t" r="r" b="b"/>
              <a:pathLst>
                <a:path w="832935" h="993675">
                  <a:moveTo>
                    <a:pt x="0" y="0"/>
                  </a:moveTo>
                  <a:lnTo>
                    <a:pt x="832935" y="0"/>
                  </a:lnTo>
                  <a:lnTo>
                    <a:pt x="832935" y="993675"/>
                  </a:lnTo>
                  <a:lnTo>
                    <a:pt x="0" y="993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1070" t="-27596" r="-13168" b="-31460"/>
              </a:stretch>
            </a:blipFill>
          </p:spPr>
        </p:sp>
        <p:sp>
          <p:nvSpPr>
            <p:cNvPr id="18" name="TextBox 18"/>
            <p:cNvSpPr txBox="1"/>
            <p:nvPr/>
          </p:nvSpPr>
          <p:spPr>
            <a:xfrm>
              <a:off x="946119" y="144465"/>
              <a:ext cx="2356744" cy="5625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20"/>
                </a:lnSpc>
                <a:spcBef>
                  <a:spcPct val="0"/>
                </a:spcBef>
              </a:pPr>
              <a:r>
                <a:rPr lang="en-US" sz="2300" spc="149">
                  <a:solidFill>
                    <a:srgbClr val="FFFFFF"/>
                  </a:solidFill>
                  <a:latin typeface="Copperplate Gothic 32 AB Bold"/>
                  <a:ea typeface="Copperplate Gothic 32 AB Bold"/>
                  <a:cs typeface="Copperplate Gothic 32 AB Bold"/>
                  <a:sym typeface="Copperplate Gothic 32 AB Bold"/>
                </a:rPr>
                <a:t>CIPHER 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91558" y="676707"/>
              <a:ext cx="2967126" cy="1986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76"/>
                </a:lnSpc>
                <a:spcBef>
                  <a:spcPct val="0"/>
                </a:spcBef>
              </a:pPr>
              <a:r>
                <a:rPr lang="en-US" sz="840" spc="54">
                  <a:solidFill>
                    <a:srgbClr val="FFFFFF"/>
                  </a:solidFill>
                  <a:latin typeface="Copperplate Gothic 32 BC"/>
                  <a:ea typeface="Copperplate Gothic 32 BC"/>
                  <a:cs typeface="Copperplate Gothic 32 BC"/>
                  <a:sym typeface="Copperplate Gothic 32 BC"/>
                </a:rPr>
                <a:t>IT STUDENTS’ EXECUTIVE COUNCIL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493374" y="9832687"/>
            <a:ext cx="3083970" cy="27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7"/>
              </a:lnSpc>
              <a:spcBef>
                <a:spcPct val="0"/>
              </a:spcBef>
            </a:pPr>
            <a:r>
              <a:rPr lang="en-US" sz="1619">
                <a:solidFill>
                  <a:srgbClr val="38B6FF"/>
                </a:solidFill>
                <a:latin typeface="Gagalin"/>
                <a:ea typeface="Gagalin"/>
                <a:cs typeface="Gagalin"/>
                <a:sym typeface="Gagalin"/>
              </a:rPr>
              <a:t>Idea submission- Template1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7397943" y="165633"/>
            <a:ext cx="3274833" cy="1083728"/>
            <a:chOff x="0" y="0"/>
            <a:chExt cx="4366444" cy="1444971"/>
          </a:xfrm>
        </p:grpSpPr>
        <p:sp>
          <p:nvSpPr>
            <p:cNvPr id="22" name="TextBox 22"/>
            <p:cNvSpPr txBox="1"/>
            <p:nvPr/>
          </p:nvSpPr>
          <p:spPr>
            <a:xfrm>
              <a:off x="0" y="-142875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FFDE59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8219" y="-78472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38B6FF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3321" y="-106547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FF5757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340520" y="415474"/>
              <a:ext cx="1025923" cy="9650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044"/>
                </a:lnSpc>
                <a:spcBef>
                  <a:spcPct val="0"/>
                </a:spcBef>
              </a:pPr>
              <a:r>
                <a:rPr lang="en-US" sz="4317">
                  <a:solidFill>
                    <a:srgbClr val="FFDE59"/>
                  </a:solidFill>
                  <a:latin typeface="Bangers"/>
                  <a:ea typeface="Bangers"/>
                  <a:cs typeface="Bangers"/>
                  <a:sym typeface="Bangers"/>
                </a:rPr>
                <a:t>1.0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6" r="-116" b="-23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0000">
                <a:alpha val="49804"/>
              </a:srgbClr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9612716"/>
            <a:ext cx="18288000" cy="674284"/>
            <a:chOff x="0" y="0"/>
            <a:chExt cx="4816593" cy="1775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177589"/>
            </a:xfrm>
            <a:custGeom>
              <a:avLst/>
              <a:gdLst/>
              <a:ahLst/>
              <a:cxnLst/>
              <a:rect l="l" t="t" r="r" b="b"/>
              <a:pathLst>
                <a:path w="4816592" h="177589">
                  <a:moveTo>
                    <a:pt x="0" y="0"/>
                  </a:moveTo>
                  <a:lnTo>
                    <a:pt x="4816592" y="0"/>
                  </a:lnTo>
                  <a:lnTo>
                    <a:pt x="4816592" y="177589"/>
                  </a:lnTo>
                  <a:lnTo>
                    <a:pt x="0" y="177589"/>
                  </a:lnTo>
                  <a:close/>
                </a:path>
              </a:pathLst>
            </a:custGeom>
            <a:solidFill>
              <a:srgbClr val="000000">
                <a:alpha val="18824"/>
              </a:srgbClr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2156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0"/>
            <a:ext cx="18288000" cy="1387754"/>
            <a:chOff x="0" y="0"/>
            <a:chExt cx="4816593" cy="36549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816592" cy="365499"/>
            </a:xfrm>
            <a:custGeom>
              <a:avLst/>
              <a:gdLst/>
              <a:ahLst/>
              <a:cxnLst/>
              <a:rect l="l" t="t" r="r" b="b"/>
              <a:pathLst>
                <a:path w="4816592" h="365499">
                  <a:moveTo>
                    <a:pt x="0" y="0"/>
                  </a:moveTo>
                  <a:lnTo>
                    <a:pt x="4816592" y="0"/>
                  </a:lnTo>
                  <a:lnTo>
                    <a:pt x="4816592" y="365499"/>
                  </a:lnTo>
                  <a:lnTo>
                    <a:pt x="0" y="365499"/>
                  </a:lnTo>
                  <a:close/>
                </a:path>
              </a:pathLst>
            </a:custGeom>
            <a:solidFill>
              <a:srgbClr val="000000">
                <a:alpha val="19608"/>
              </a:srgbClr>
            </a:solidFill>
            <a:ln w="57150" cap="sq">
              <a:solidFill>
                <a:srgbClr val="000000">
                  <a:alpha val="19608"/>
                </a:srgbClr>
              </a:solidFill>
              <a:prstDash val="solid"/>
              <a:miter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4816593" cy="4035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7788350" y="9660062"/>
            <a:ext cx="202555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Gagalin"/>
                <a:ea typeface="Gagalin"/>
                <a:cs typeface="Gagalin"/>
                <a:sym typeface="Gagalin"/>
              </a:rPr>
              <a:t>7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629414" y="1873057"/>
            <a:ext cx="6348710" cy="697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74"/>
              </a:lnSpc>
              <a:spcBef>
                <a:spcPct val="0"/>
              </a:spcBef>
            </a:pPr>
            <a:r>
              <a:rPr lang="en-US" sz="4053">
                <a:solidFill>
                  <a:srgbClr val="FFFFFF"/>
                </a:solidFill>
                <a:latin typeface="Gagalin"/>
                <a:ea typeface="Gagalin"/>
                <a:cs typeface="Gagalin"/>
                <a:sym typeface="Gagalin"/>
              </a:rPr>
              <a:t>Slide 7 – Rules &amp; Guidelines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70017" y="2904456"/>
            <a:ext cx="17147966" cy="67082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4121" lvl="1" indent="-272061" algn="just">
              <a:lnSpc>
                <a:spcPts val="3528"/>
              </a:lnSpc>
              <a:buAutoNum type="arabicPeriod"/>
            </a:pPr>
            <a:r>
              <a:rPr lang="en-US" sz="252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The presentation must not exceed 6 slides (excluding this slide).</a:t>
            </a:r>
          </a:p>
          <a:p>
            <a:pPr marL="544121" lvl="1" indent="-272061" algn="just">
              <a:lnSpc>
                <a:spcPts val="3528"/>
              </a:lnSpc>
              <a:buAutoNum type="arabicPeriod"/>
            </a:pPr>
            <a:r>
              <a:rPr lang="en-US" sz="252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You can modify this ppt, but not the structure, the sections should be as it is</a:t>
            </a:r>
          </a:p>
          <a:p>
            <a:pPr marL="544121" lvl="1" indent="-272061" algn="just">
              <a:lnSpc>
                <a:spcPts val="3528"/>
              </a:lnSpc>
              <a:buAutoNum type="arabicPeriod"/>
            </a:pPr>
            <a:r>
              <a:rPr lang="en-US" sz="252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Teams will be given a limited time window to present their idea, so the pitch should be clear, concise, and well-structured.</a:t>
            </a:r>
          </a:p>
          <a:p>
            <a:pPr marL="544121" lvl="1" indent="-272061" algn="just">
              <a:lnSpc>
                <a:spcPts val="3528"/>
              </a:lnSpc>
              <a:buAutoNum type="arabicPeriod"/>
            </a:pPr>
            <a:r>
              <a:rPr lang="en-US" sz="252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Participants must clearly define the problem statement and explain their proposed solution in a logical and understandable manner.</a:t>
            </a:r>
          </a:p>
          <a:p>
            <a:pPr marL="544121" lvl="1" indent="-272061" algn="just">
              <a:lnSpc>
                <a:spcPts val="3528"/>
              </a:lnSpc>
              <a:buAutoNum type="arabicPeriod"/>
            </a:pPr>
            <a:r>
              <a:rPr lang="en-US" sz="252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All ideas and content presented must be original work of the team. Any form of plagiarism or copied content will lead to immediate disqualification.</a:t>
            </a:r>
          </a:p>
          <a:p>
            <a:pPr marL="544121" lvl="1" indent="-272061" algn="just">
              <a:lnSpc>
                <a:spcPts val="3528"/>
              </a:lnSpc>
              <a:buAutoNum type="arabicPeriod"/>
            </a:pPr>
            <a:r>
              <a:rPr lang="en-US" sz="252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Teams are encouraged to include relevant visuals, diagrams, or prototypes to better demonstrate their concept.</a:t>
            </a:r>
          </a:p>
          <a:p>
            <a:pPr marL="544121" lvl="1" indent="-272061" algn="just">
              <a:lnSpc>
                <a:spcPts val="3528"/>
              </a:lnSpc>
              <a:buAutoNum type="arabicPeriod"/>
            </a:pPr>
            <a:r>
              <a:rPr lang="en-US" sz="252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The evaluation will be based on innovation, feasibility, clarity of presentation, and potential impact of the proposed solution.</a:t>
            </a:r>
          </a:p>
          <a:p>
            <a:pPr marL="544121" lvl="1" indent="-272061" algn="just">
              <a:lnSpc>
                <a:spcPts val="3528"/>
              </a:lnSpc>
              <a:buAutoNum type="arabicPeriod"/>
            </a:pPr>
            <a:r>
              <a:rPr lang="en-US" sz="252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The decision of the judging panel will be final and binding for all participants.</a:t>
            </a:r>
          </a:p>
          <a:p>
            <a:pPr algn="just">
              <a:lnSpc>
                <a:spcPts val="3528"/>
              </a:lnSpc>
            </a:pPr>
            <a:endParaRPr lang="en-US" sz="252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ctr">
              <a:lnSpc>
                <a:spcPts val="3528"/>
              </a:lnSpc>
            </a:pPr>
            <a:r>
              <a:rPr lang="en-US" sz="2520" b="1">
                <a:solidFill>
                  <a:srgbClr val="FF575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DELETE THIS SLIDE BEFORE SUBMITTING</a:t>
            </a:r>
          </a:p>
        </p:txBody>
      </p:sp>
      <p:sp>
        <p:nvSpPr>
          <p:cNvPr id="15" name="Freeform 15"/>
          <p:cNvSpPr/>
          <p:nvPr/>
        </p:nvSpPr>
        <p:spPr>
          <a:xfrm>
            <a:off x="230308" y="179485"/>
            <a:ext cx="3140115" cy="1083728"/>
          </a:xfrm>
          <a:custGeom>
            <a:avLst/>
            <a:gdLst/>
            <a:ahLst/>
            <a:cxnLst/>
            <a:rect l="l" t="t" r="r" b="b"/>
            <a:pathLst>
              <a:path w="3140115" h="1083728">
                <a:moveTo>
                  <a:pt x="0" y="0"/>
                </a:moveTo>
                <a:lnTo>
                  <a:pt x="3140115" y="0"/>
                </a:lnTo>
                <a:lnTo>
                  <a:pt x="3140115" y="1083729"/>
                </a:lnTo>
                <a:lnTo>
                  <a:pt x="0" y="10837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17991"/>
            </a:stretch>
          </a:blipFill>
        </p:spPr>
      </p:sp>
      <p:grpSp>
        <p:nvGrpSpPr>
          <p:cNvPr id="16" name="Group 16"/>
          <p:cNvGrpSpPr/>
          <p:nvPr/>
        </p:nvGrpSpPr>
        <p:grpSpPr>
          <a:xfrm>
            <a:off x="15042849" y="334869"/>
            <a:ext cx="2744013" cy="745256"/>
            <a:chOff x="0" y="0"/>
            <a:chExt cx="3658684" cy="993675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32935" cy="993675"/>
            </a:xfrm>
            <a:custGeom>
              <a:avLst/>
              <a:gdLst/>
              <a:ahLst/>
              <a:cxnLst/>
              <a:rect l="l" t="t" r="r" b="b"/>
              <a:pathLst>
                <a:path w="832935" h="993675">
                  <a:moveTo>
                    <a:pt x="0" y="0"/>
                  </a:moveTo>
                  <a:lnTo>
                    <a:pt x="832935" y="0"/>
                  </a:lnTo>
                  <a:lnTo>
                    <a:pt x="832935" y="993675"/>
                  </a:lnTo>
                  <a:lnTo>
                    <a:pt x="0" y="993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1070" t="-27596" r="-13168" b="-31460"/>
              </a:stretch>
            </a:blipFill>
          </p:spPr>
        </p:sp>
        <p:sp>
          <p:nvSpPr>
            <p:cNvPr id="18" name="TextBox 18"/>
            <p:cNvSpPr txBox="1"/>
            <p:nvPr/>
          </p:nvSpPr>
          <p:spPr>
            <a:xfrm>
              <a:off x="946119" y="144465"/>
              <a:ext cx="2356744" cy="5625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20"/>
                </a:lnSpc>
                <a:spcBef>
                  <a:spcPct val="0"/>
                </a:spcBef>
              </a:pPr>
              <a:r>
                <a:rPr lang="en-US" sz="2300" spc="149">
                  <a:solidFill>
                    <a:srgbClr val="FFFFFF"/>
                  </a:solidFill>
                  <a:latin typeface="Copperplate Gothic 32 AB Bold"/>
                  <a:ea typeface="Copperplate Gothic 32 AB Bold"/>
                  <a:cs typeface="Copperplate Gothic 32 AB Bold"/>
                  <a:sym typeface="Copperplate Gothic 32 AB Bold"/>
                </a:rPr>
                <a:t>CIPHER 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91558" y="676707"/>
              <a:ext cx="2967126" cy="1986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76"/>
                </a:lnSpc>
                <a:spcBef>
                  <a:spcPct val="0"/>
                </a:spcBef>
              </a:pPr>
              <a:r>
                <a:rPr lang="en-US" sz="840" spc="54">
                  <a:solidFill>
                    <a:srgbClr val="FFFFFF"/>
                  </a:solidFill>
                  <a:latin typeface="Copperplate Gothic 32 BC"/>
                  <a:ea typeface="Copperplate Gothic 32 BC"/>
                  <a:cs typeface="Copperplate Gothic 32 BC"/>
                  <a:sym typeface="Copperplate Gothic 32 BC"/>
                </a:rPr>
                <a:t>IT STUDENTS’ EXECUTIVE COUNCIL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493374" y="9832687"/>
            <a:ext cx="3083970" cy="27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7"/>
              </a:lnSpc>
              <a:spcBef>
                <a:spcPct val="0"/>
              </a:spcBef>
            </a:pPr>
            <a:r>
              <a:rPr lang="en-US" sz="1619">
                <a:solidFill>
                  <a:srgbClr val="38B6FF"/>
                </a:solidFill>
                <a:latin typeface="Gagalin"/>
                <a:ea typeface="Gagalin"/>
                <a:cs typeface="Gagalin"/>
                <a:sym typeface="Gagalin"/>
              </a:rPr>
              <a:t>Idea submission- Template1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7397943" y="165633"/>
            <a:ext cx="3274833" cy="1083728"/>
            <a:chOff x="0" y="0"/>
            <a:chExt cx="4366444" cy="1444971"/>
          </a:xfrm>
        </p:grpSpPr>
        <p:sp>
          <p:nvSpPr>
            <p:cNvPr id="22" name="TextBox 22"/>
            <p:cNvSpPr txBox="1"/>
            <p:nvPr/>
          </p:nvSpPr>
          <p:spPr>
            <a:xfrm>
              <a:off x="0" y="-142875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FFDE59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8219" y="-78472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38B6FF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3321" y="-106547"/>
              <a:ext cx="3820161" cy="1523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600"/>
                </a:lnSpc>
                <a:spcBef>
                  <a:spcPct val="0"/>
                </a:spcBef>
              </a:pPr>
              <a:r>
                <a:rPr lang="en-US" sz="6857">
                  <a:solidFill>
                    <a:srgbClr val="FF5757"/>
                  </a:solidFill>
                  <a:latin typeface="Bangers"/>
                  <a:ea typeface="Bangers"/>
                  <a:cs typeface="Bangers"/>
                  <a:sym typeface="Bangers"/>
                </a:rPr>
                <a:t>VELORA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340520" y="415474"/>
              <a:ext cx="1025923" cy="9650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044"/>
                </a:lnSpc>
                <a:spcBef>
                  <a:spcPct val="0"/>
                </a:spcBef>
              </a:pPr>
              <a:r>
                <a:rPr lang="en-US" sz="4317">
                  <a:solidFill>
                    <a:srgbClr val="FFDE59"/>
                  </a:solidFill>
                  <a:latin typeface="Bangers"/>
                  <a:ea typeface="Bangers"/>
                  <a:cs typeface="Bangers"/>
                  <a:sym typeface="Bangers"/>
                </a:rPr>
                <a:t>1.0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386</Words>
  <Application>Microsoft Office PowerPoint</Application>
  <PresentationFormat>Custom</PresentationFormat>
  <Paragraphs>111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7" baseType="lpstr">
      <vt:lpstr>Gagalin</vt:lpstr>
      <vt:lpstr>Bangers</vt:lpstr>
      <vt:lpstr>Canva Sans</vt:lpstr>
      <vt:lpstr>Canva Sans Bold</vt:lpstr>
      <vt:lpstr>Copperplate Gothic 32 AB Bold</vt:lpstr>
      <vt:lpstr>Comic Sans</vt:lpstr>
      <vt:lpstr>Copperplate Gothic 32 BC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Shahpure</dc:creator>
  <cp:lastModifiedBy>Zaki Shahpure</cp:lastModifiedBy>
  <cp:revision>2</cp:revision>
  <dcterms:created xsi:type="dcterms:W3CDTF">2006-08-16T00:00:00Z</dcterms:created>
  <dcterms:modified xsi:type="dcterms:W3CDTF">2026-03-16T20:50:56Z</dcterms:modified>
  <dc:identifier>DAHEGsvVRu4</dc:identifier>
</cp:coreProperties>
</file>