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galin" charset="1" panose="00000500000000000000"/>
      <p:regular r:id="rId13"/>
    </p:embeddedFont>
    <p:embeddedFont>
      <p:font typeface="Copperplate Gothic 32 AB Bold" charset="1" panose="020E0707020206020404"/>
      <p:regular r:id="rId14"/>
    </p:embeddedFont>
    <p:embeddedFont>
      <p:font typeface="Copperplate Gothic 32 BC" charset="1" panose="020E0807020206020404"/>
      <p:regular r:id="rId15"/>
    </p:embeddedFont>
    <p:embeddedFont>
      <p:font typeface="Bangers" charset="1" panose="00000500000000000000"/>
      <p:regular r:id="rId16"/>
    </p:embeddedFont>
    <p:embeddedFont>
      <p:font typeface="Comic Sans" charset="1" panose="03000702030302020204"/>
      <p:regular r:id="rId17"/>
    </p:embeddedFont>
    <p:embeddedFont>
      <p:font typeface="Canva Sans" charset="1" panose="020B0503030501040103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" t="0" r="-116" b="-23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612716"/>
            <a:ext cx="18288000" cy="674284"/>
            <a:chOff x="0" y="0"/>
            <a:chExt cx="4816593" cy="1775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77589"/>
            </a:xfrm>
            <a:custGeom>
              <a:avLst/>
              <a:gdLst/>
              <a:ahLst/>
              <a:cxnLst/>
              <a:rect r="r" b="b" t="t" l="l"/>
              <a:pathLst>
                <a:path h="17758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7589"/>
                  </a:lnTo>
                  <a:lnTo>
                    <a:pt x="0" y="17758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215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88000" cy="1387754"/>
            <a:chOff x="0" y="0"/>
            <a:chExt cx="4816593" cy="3654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365499"/>
            </a:xfrm>
            <a:custGeom>
              <a:avLst/>
              <a:gdLst/>
              <a:ahLst/>
              <a:cxnLst/>
              <a:rect r="r" b="b" t="t" l="l"/>
              <a:pathLst>
                <a:path h="3654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65499"/>
                  </a:lnTo>
                  <a:lnTo>
                    <a:pt x="0" y="365499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5715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16593" cy="403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91372" y="3399178"/>
            <a:ext cx="3463523" cy="515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Team Name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Problem Statment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PS ID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Team ID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</a:p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College Name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834561" y="9660062"/>
            <a:ext cx="11013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1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30308" y="179485"/>
            <a:ext cx="3140115" cy="1083728"/>
          </a:xfrm>
          <a:custGeom>
            <a:avLst/>
            <a:gdLst/>
            <a:ahLst/>
            <a:cxnLst/>
            <a:rect r="r" b="b" t="t" l="l"/>
            <a:pathLst>
              <a:path h="1083728" w="3140115">
                <a:moveTo>
                  <a:pt x="0" y="0"/>
                </a:moveTo>
                <a:lnTo>
                  <a:pt x="3140115" y="0"/>
                </a:lnTo>
                <a:lnTo>
                  <a:pt x="3140115" y="1083729"/>
                </a:lnTo>
                <a:lnTo>
                  <a:pt x="0" y="1083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991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042849" y="334869"/>
            <a:ext cx="2744013" cy="745256"/>
            <a:chOff x="0" y="0"/>
            <a:chExt cx="3658684" cy="9936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2935" cy="993675"/>
            </a:xfrm>
            <a:custGeom>
              <a:avLst/>
              <a:gdLst/>
              <a:ahLst/>
              <a:cxnLst/>
              <a:rect r="r" b="b" t="t" l="l"/>
              <a:pathLst>
                <a:path h="993675" w="832935">
                  <a:moveTo>
                    <a:pt x="0" y="0"/>
                  </a:moveTo>
                  <a:lnTo>
                    <a:pt x="832935" y="0"/>
                  </a:lnTo>
                  <a:lnTo>
                    <a:pt x="832935" y="993675"/>
                  </a:lnTo>
                  <a:lnTo>
                    <a:pt x="0" y="993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070" t="-27596" r="-13168" b="-3146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946119" y="144465"/>
              <a:ext cx="2356744" cy="562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 spc="149">
                  <a:solidFill>
                    <a:srgbClr val="FFFFFF"/>
                  </a:solidFill>
                  <a:latin typeface="Copperplate Gothic 32 AB Bold"/>
                  <a:ea typeface="Copperplate Gothic 32 AB Bold"/>
                  <a:cs typeface="Copperplate Gothic 32 AB Bold"/>
                  <a:sym typeface="Copperplate Gothic 32 AB Bold"/>
                </a:rPr>
                <a:t>CIPHER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91558" y="676707"/>
              <a:ext cx="2967126" cy="198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6"/>
                </a:lnSpc>
                <a:spcBef>
                  <a:spcPct val="0"/>
                </a:spcBef>
              </a:pPr>
              <a:r>
                <a:rPr lang="en-US" sz="840" spc="54">
                  <a:solidFill>
                    <a:srgbClr val="FFFFFF"/>
                  </a:solidFill>
                  <a:latin typeface="Copperplate Gothic 32 BC"/>
                  <a:ea typeface="Copperplate Gothic 32 BC"/>
                  <a:cs typeface="Copperplate Gothic 32 BC"/>
                  <a:sym typeface="Copperplate Gothic 32 BC"/>
                </a:rPr>
                <a:t>IT STUDENTS’ EXECUTIVE COUNCIL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493374" y="9832687"/>
            <a:ext cx="3083970" cy="27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7"/>
              </a:lnSpc>
              <a:spcBef>
                <a:spcPct val="0"/>
              </a:spcBef>
            </a:pPr>
            <a:r>
              <a:rPr lang="en-US" sz="1619">
                <a:solidFill>
                  <a:srgbClr val="38B6FF"/>
                </a:solidFill>
                <a:latin typeface="Gagalin"/>
                <a:ea typeface="Gagalin"/>
                <a:cs typeface="Gagalin"/>
                <a:sym typeface="Gagalin"/>
              </a:rPr>
              <a:t>Idea submission- Template1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397943" y="165633"/>
            <a:ext cx="3274833" cy="1083728"/>
            <a:chOff x="0" y="0"/>
            <a:chExt cx="4366444" cy="1444971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142875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8219" y="-78472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38B6FF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3321" y="-106547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5757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340520" y="415474"/>
              <a:ext cx="1025923" cy="965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44"/>
                </a:lnSpc>
                <a:spcBef>
                  <a:spcPct val="0"/>
                </a:spcBef>
              </a:pPr>
              <a:r>
                <a:rPr lang="en-US" sz="431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1.0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" t="0" r="-116" b="-23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612716"/>
            <a:ext cx="18288000" cy="674284"/>
            <a:chOff x="0" y="0"/>
            <a:chExt cx="4816593" cy="1775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77589"/>
            </a:xfrm>
            <a:custGeom>
              <a:avLst/>
              <a:gdLst/>
              <a:ahLst/>
              <a:cxnLst/>
              <a:rect r="r" b="b" t="t" l="l"/>
              <a:pathLst>
                <a:path h="17758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7589"/>
                  </a:lnTo>
                  <a:lnTo>
                    <a:pt x="0" y="17758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215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88000" cy="1387754"/>
            <a:chOff x="0" y="0"/>
            <a:chExt cx="4816593" cy="3654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365499"/>
            </a:xfrm>
            <a:custGeom>
              <a:avLst/>
              <a:gdLst/>
              <a:ahLst/>
              <a:cxnLst/>
              <a:rect r="r" b="b" t="t" l="l"/>
              <a:pathLst>
                <a:path h="3654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65499"/>
                  </a:lnTo>
                  <a:lnTo>
                    <a:pt x="0" y="365499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5715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16593" cy="403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30308" y="179485"/>
            <a:ext cx="3140115" cy="1083728"/>
          </a:xfrm>
          <a:custGeom>
            <a:avLst/>
            <a:gdLst/>
            <a:ahLst/>
            <a:cxnLst/>
            <a:rect r="r" b="b" t="t" l="l"/>
            <a:pathLst>
              <a:path h="1083728" w="3140115">
                <a:moveTo>
                  <a:pt x="0" y="0"/>
                </a:moveTo>
                <a:lnTo>
                  <a:pt x="3140115" y="0"/>
                </a:lnTo>
                <a:lnTo>
                  <a:pt x="3140115" y="1083729"/>
                </a:lnTo>
                <a:lnTo>
                  <a:pt x="0" y="1083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99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16543" y="4752528"/>
            <a:ext cx="6903486" cy="300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4"/>
              </a:lnSpc>
              <a:spcBef>
                <a:spcPct val="0"/>
              </a:spcBef>
            </a:pPr>
            <a:r>
              <a:rPr lang="en-US" sz="2853">
                <a:solidFill>
                  <a:srgbClr val="FFDE59"/>
                </a:solidFill>
                <a:latin typeface="Comic Sans"/>
                <a:ea typeface="Comic Sans"/>
                <a:cs typeface="Comic Sans"/>
                <a:sym typeface="Comic Sans"/>
              </a:rPr>
              <a:t>• Cl</a:t>
            </a:r>
            <a:r>
              <a:rPr lang="en-US" sz="2853">
                <a:solidFill>
                  <a:srgbClr val="FFDE59"/>
                </a:solidFill>
                <a:latin typeface="Comic Sans"/>
                <a:ea typeface="Comic Sans"/>
                <a:cs typeface="Comic Sans"/>
                <a:sym typeface="Comic Sans"/>
              </a:rPr>
              <a:t>early define the problem</a:t>
            </a:r>
          </a:p>
          <a:p>
            <a:pPr algn="just">
              <a:lnSpc>
                <a:spcPts val="3994"/>
              </a:lnSpc>
              <a:spcBef>
                <a:spcPct val="0"/>
              </a:spcBef>
            </a:pPr>
          </a:p>
          <a:p>
            <a:pPr algn="just">
              <a:lnSpc>
                <a:spcPts val="3994"/>
              </a:lnSpc>
              <a:spcBef>
                <a:spcPct val="0"/>
              </a:spcBef>
            </a:pPr>
            <a:r>
              <a:rPr lang="en-US" sz="2853">
                <a:solidFill>
                  <a:srgbClr val="FFDE59"/>
                </a:solidFill>
                <a:latin typeface="Comic Sans"/>
                <a:ea typeface="Comic Sans"/>
                <a:cs typeface="Comic Sans"/>
                <a:sym typeface="Comic Sans"/>
              </a:rPr>
              <a:t>• Who is affected by this problem</a:t>
            </a:r>
          </a:p>
          <a:p>
            <a:pPr algn="just">
              <a:lnSpc>
                <a:spcPts val="3994"/>
              </a:lnSpc>
              <a:spcBef>
                <a:spcPct val="0"/>
              </a:spcBef>
            </a:pPr>
          </a:p>
          <a:p>
            <a:pPr algn="just">
              <a:lnSpc>
                <a:spcPts val="3994"/>
              </a:lnSpc>
              <a:spcBef>
                <a:spcPct val="0"/>
              </a:spcBef>
            </a:pPr>
            <a:r>
              <a:rPr lang="en-US" sz="2853">
                <a:solidFill>
                  <a:srgbClr val="FFDE59"/>
                </a:solidFill>
                <a:latin typeface="Comic Sans"/>
                <a:ea typeface="Comic Sans"/>
                <a:cs typeface="Comic Sans"/>
                <a:sym typeface="Comic Sans"/>
              </a:rPr>
              <a:t>• Why this problem matters</a:t>
            </a:r>
          </a:p>
          <a:p>
            <a:pPr algn="just">
              <a:lnSpc>
                <a:spcPts val="3994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5042849" y="334869"/>
            <a:ext cx="2744013" cy="745256"/>
            <a:chOff x="0" y="0"/>
            <a:chExt cx="3658684" cy="9936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2935" cy="993675"/>
            </a:xfrm>
            <a:custGeom>
              <a:avLst/>
              <a:gdLst/>
              <a:ahLst/>
              <a:cxnLst/>
              <a:rect r="r" b="b" t="t" l="l"/>
              <a:pathLst>
                <a:path h="993675" w="832935">
                  <a:moveTo>
                    <a:pt x="0" y="0"/>
                  </a:moveTo>
                  <a:lnTo>
                    <a:pt x="832935" y="0"/>
                  </a:lnTo>
                  <a:lnTo>
                    <a:pt x="832935" y="993675"/>
                  </a:lnTo>
                  <a:lnTo>
                    <a:pt x="0" y="993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070" t="-27596" r="-13168" b="-314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946119" y="144465"/>
              <a:ext cx="2356744" cy="562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 spc="149">
                  <a:solidFill>
                    <a:srgbClr val="FFFFFF"/>
                  </a:solidFill>
                  <a:latin typeface="Copperplate Gothic 32 AB Bold"/>
                  <a:ea typeface="Copperplate Gothic 32 AB Bold"/>
                  <a:cs typeface="Copperplate Gothic 32 AB Bold"/>
                  <a:sym typeface="Copperplate Gothic 32 AB Bold"/>
                </a:rPr>
                <a:t>CIPHER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91558" y="676707"/>
              <a:ext cx="2967126" cy="198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6"/>
                </a:lnSpc>
                <a:spcBef>
                  <a:spcPct val="0"/>
                </a:spcBef>
              </a:pPr>
              <a:r>
                <a:rPr lang="en-US" sz="840" spc="54">
                  <a:solidFill>
                    <a:srgbClr val="FFFFFF"/>
                  </a:solidFill>
                  <a:latin typeface="Copperplate Gothic 32 BC"/>
                  <a:ea typeface="Copperplate Gothic 32 BC"/>
                  <a:cs typeface="Copperplate Gothic 32 BC"/>
                  <a:sym typeface="Copperplate Gothic 32 BC"/>
                </a:rPr>
                <a:t>IT STUDENTS’ EXECUTIVE COUNCIL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786862" y="9660062"/>
            <a:ext cx="2055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6543" y="3811697"/>
            <a:ext cx="5727799" cy="53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4"/>
              </a:lnSpc>
              <a:spcBef>
                <a:spcPct val="0"/>
              </a:spcBef>
            </a:pPr>
            <a:r>
              <a:rPr lang="en-US" sz="31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What Problem Are You Solving?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48949" y="1873057"/>
            <a:ext cx="4509641" cy="69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sz="4053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Problem Statement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93374" y="9832687"/>
            <a:ext cx="3083970" cy="27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7"/>
              </a:lnSpc>
              <a:spcBef>
                <a:spcPct val="0"/>
              </a:spcBef>
            </a:pPr>
            <a:r>
              <a:rPr lang="en-US" sz="1619">
                <a:solidFill>
                  <a:srgbClr val="38B6FF"/>
                </a:solidFill>
                <a:latin typeface="Gagalin"/>
                <a:ea typeface="Gagalin"/>
                <a:cs typeface="Gagalin"/>
                <a:sym typeface="Gagalin"/>
              </a:rPr>
              <a:t>Idea submission- Template1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397943" y="165633"/>
            <a:ext cx="3274833" cy="1083728"/>
            <a:chOff x="0" y="0"/>
            <a:chExt cx="4366444" cy="1444971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142875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8219" y="-78472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38B6FF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321" y="-106547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5757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340520" y="415474"/>
              <a:ext cx="1025923" cy="965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44"/>
                </a:lnSpc>
                <a:spcBef>
                  <a:spcPct val="0"/>
                </a:spcBef>
              </a:pPr>
              <a:r>
                <a:rPr lang="en-US" sz="431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1.0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" t="0" r="-116" b="-23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612716"/>
            <a:ext cx="18288000" cy="674284"/>
            <a:chOff x="0" y="0"/>
            <a:chExt cx="4816593" cy="1775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77589"/>
            </a:xfrm>
            <a:custGeom>
              <a:avLst/>
              <a:gdLst/>
              <a:ahLst/>
              <a:cxnLst/>
              <a:rect r="r" b="b" t="t" l="l"/>
              <a:pathLst>
                <a:path h="17758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7589"/>
                  </a:lnTo>
                  <a:lnTo>
                    <a:pt x="0" y="17758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215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88000" cy="1387754"/>
            <a:chOff x="0" y="0"/>
            <a:chExt cx="4816593" cy="3654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365499"/>
            </a:xfrm>
            <a:custGeom>
              <a:avLst/>
              <a:gdLst/>
              <a:ahLst/>
              <a:cxnLst/>
              <a:rect r="r" b="b" t="t" l="l"/>
              <a:pathLst>
                <a:path h="3654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65499"/>
                  </a:lnTo>
                  <a:lnTo>
                    <a:pt x="0" y="365499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5715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16593" cy="403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3602402"/>
            <a:ext cx="5906062" cy="113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•</a:t>
            </a: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 Brief description of your idea</a:t>
            </a:r>
          </a:p>
          <a:p>
            <a:pPr algn="ctr">
              <a:lnSpc>
                <a:spcPts val="455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789020" y="9660062"/>
            <a:ext cx="2012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19491" y="1873057"/>
            <a:ext cx="7968555" cy="69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sz="4053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Proposed Solution / Your Solution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542884"/>
            <a:ext cx="7598271" cy="55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 </a:t>
            </a: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• How your solution solves the 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460528"/>
            <a:ext cx="5982146" cy="55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• Key features</a:t>
            </a: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 of your solution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0308" y="179485"/>
            <a:ext cx="3140115" cy="1083728"/>
          </a:xfrm>
          <a:custGeom>
            <a:avLst/>
            <a:gdLst/>
            <a:ahLst/>
            <a:cxnLst/>
            <a:rect r="r" b="b" t="t" l="l"/>
            <a:pathLst>
              <a:path h="1083728" w="3140115">
                <a:moveTo>
                  <a:pt x="0" y="0"/>
                </a:moveTo>
                <a:lnTo>
                  <a:pt x="3140115" y="0"/>
                </a:lnTo>
                <a:lnTo>
                  <a:pt x="3140115" y="1083729"/>
                </a:lnTo>
                <a:lnTo>
                  <a:pt x="0" y="1083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991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5042849" y="334869"/>
            <a:ext cx="2744013" cy="745256"/>
            <a:chOff x="0" y="0"/>
            <a:chExt cx="3658684" cy="9936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2935" cy="993675"/>
            </a:xfrm>
            <a:custGeom>
              <a:avLst/>
              <a:gdLst/>
              <a:ahLst/>
              <a:cxnLst/>
              <a:rect r="r" b="b" t="t" l="l"/>
              <a:pathLst>
                <a:path h="993675" w="832935">
                  <a:moveTo>
                    <a:pt x="0" y="0"/>
                  </a:moveTo>
                  <a:lnTo>
                    <a:pt x="832935" y="0"/>
                  </a:lnTo>
                  <a:lnTo>
                    <a:pt x="832935" y="993675"/>
                  </a:lnTo>
                  <a:lnTo>
                    <a:pt x="0" y="993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070" t="-27596" r="-13168" b="-314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946119" y="144465"/>
              <a:ext cx="2356744" cy="562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 spc="149">
                  <a:solidFill>
                    <a:srgbClr val="FFFFFF"/>
                  </a:solidFill>
                  <a:latin typeface="Copperplate Gothic 32 AB Bold"/>
                  <a:ea typeface="Copperplate Gothic 32 AB Bold"/>
                  <a:cs typeface="Copperplate Gothic 32 AB Bold"/>
                  <a:sym typeface="Copperplate Gothic 32 AB Bold"/>
                </a:rPr>
                <a:t>CIPHER 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91558" y="676707"/>
              <a:ext cx="2967126" cy="198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6"/>
                </a:lnSpc>
                <a:spcBef>
                  <a:spcPct val="0"/>
                </a:spcBef>
              </a:pPr>
              <a:r>
                <a:rPr lang="en-US" sz="840" spc="54">
                  <a:solidFill>
                    <a:srgbClr val="FFFFFF"/>
                  </a:solidFill>
                  <a:latin typeface="Copperplate Gothic 32 BC"/>
                  <a:ea typeface="Copperplate Gothic 32 BC"/>
                  <a:cs typeface="Copperplate Gothic 32 BC"/>
                  <a:sym typeface="Copperplate Gothic 32 BC"/>
                </a:rPr>
                <a:t>IT STUDENTS’ EXECUTIVE COUNCIL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493374" y="9832687"/>
            <a:ext cx="3083970" cy="27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7"/>
              </a:lnSpc>
              <a:spcBef>
                <a:spcPct val="0"/>
              </a:spcBef>
            </a:pPr>
            <a:r>
              <a:rPr lang="en-US" sz="1619">
                <a:solidFill>
                  <a:srgbClr val="38B6FF"/>
                </a:solidFill>
                <a:latin typeface="Gagalin"/>
                <a:ea typeface="Gagalin"/>
                <a:cs typeface="Gagalin"/>
                <a:sym typeface="Gagalin"/>
              </a:rPr>
              <a:t>Idea submission- Template1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397943" y="165633"/>
            <a:ext cx="3274833" cy="1083728"/>
            <a:chOff x="0" y="0"/>
            <a:chExt cx="4366444" cy="1444971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142875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8219" y="-78472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38B6FF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3321" y="-106547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5757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340520" y="415474"/>
              <a:ext cx="1025923" cy="965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44"/>
                </a:lnSpc>
                <a:spcBef>
                  <a:spcPct val="0"/>
                </a:spcBef>
              </a:pPr>
              <a:r>
                <a:rPr lang="en-US" sz="431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1.0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" t="0" r="-116" b="-23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612716"/>
            <a:ext cx="18288000" cy="674284"/>
            <a:chOff x="0" y="0"/>
            <a:chExt cx="4816593" cy="1775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77589"/>
            </a:xfrm>
            <a:custGeom>
              <a:avLst/>
              <a:gdLst/>
              <a:ahLst/>
              <a:cxnLst/>
              <a:rect r="r" b="b" t="t" l="l"/>
              <a:pathLst>
                <a:path h="17758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7589"/>
                  </a:lnTo>
                  <a:lnTo>
                    <a:pt x="0" y="17758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215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88000" cy="1387754"/>
            <a:chOff x="0" y="0"/>
            <a:chExt cx="4816593" cy="3654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365499"/>
            </a:xfrm>
            <a:custGeom>
              <a:avLst/>
              <a:gdLst/>
              <a:ahLst/>
              <a:cxnLst/>
              <a:rect r="r" b="b" t="t" l="l"/>
              <a:pathLst>
                <a:path h="3654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65499"/>
                  </a:lnTo>
                  <a:lnTo>
                    <a:pt x="0" y="365499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5715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16593" cy="403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90260" y="3467429"/>
            <a:ext cx="4720233" cy="398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4"/>
              </a:lnSpc>
            </a:pPr>
          </a:p>
          <a:p>
            <a:pPr algn="l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• Progr</a:t>
            </a: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amming languages</a:t>
            </a:r>
          </a:p>
          <a:p>
            <a:pPr algn="l">
              <a:lnSpc>
                <a:spcPts val="4554"/>
              </a:lnSpc>
              <a:spcBef>
                <a:spcPct val="0"/>
              </a:spcBef>
            </a:pPr>
          </a:p>
          <a:p>
            <a:pPr algn="l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 • Frameworks / tools</a:t>
            </a:r>
          </a:p>
          <a:p>
            <a:pPr algn="l">
              <a:lnSpc>
                <a:spcPts val="4554"/>
              </a:lnSpc>
              <a:spcBef>
                <a:spcPct val="0"/>
              </a:spcBef>
            </a:pPr>
          </a:p>
          <a:p>
            <a:pPr algn="l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 • APIs or datasets</a:t>
            </a:r>
          </a:p>
          <a:p>
            <a:pPr algn="l">
              <a:lnSpc>
                <a:spcPts val="455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781653" y="9660062"/>
            <a:ext cx="21595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16688" y="1873057"/>
            <a:ext cx="8774162" cy="69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sz="4053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Techn</a:t>
            </a:r>
            <a:r>
              <a:rPr lang="en-US" sz="4053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ology Stack /Technologies Used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30308" y="179485"/>
            <a:ext cx="3140115" cy="1083728"/>
          </a:xfrm>
          <a:custGeom>
            <a:avLst/>
            <a:gdLst/>
            <a:ahLst/>
            <a:cxnLst/>
            <a:rect r="r" b="b" t="t" l="l"/>
            <a:pathLst>
              <a:path h="1083728" w="3140115">
                <a:moveTo>
                  <a:pt x="0" y="0"/>
                </a:moveTo>
                <a:lnTo>
                  <a:pt x="3140115" y="0"/>
                </a:lnTo>
                <a:lnTo>
                  <a:pt x="3140115" y="1083729"/>
                </a:lnTo>
                <a:lnTo>
                  <a:pt x="0" y="1083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991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042849" y="334869"/>
            <a:ext cx="2744013" cy="745256"/>
            <a:chOff x="0" y="0"/>
            <a:chExt cx="3658684" cy="9936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2935" cy="993675"/>
            </a:xfrm>
            <a:custGeom>
              <a:avLst/>
              <a:gdLst/>
              <a:ahLst/>
              <a:cxnLst/>
              <a:rect r="r" b="b" t="t" l="l"/>
              <a:pathLst>
                <a:path h="993675" w="832935">
                  <a:moveTo>
                    <a:pt x="0" y="0"/>
                  </a:moveTo>
                  <a:lnTo>
                    <a:pt x="832935" y="0"/>
                  </a:lnTo>
                  <a:lnTo>
                    <a:pt x="832935" y="993675"/>
                  </a:lnTo>
                  <a:lnTo>
                    <a:pt x="0" y="993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070" t="-27596" r="-13168" b="-314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946119" y="144465"/>
              <a:ext cx="2356744" cy="562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 spc="149">
                  <a:solidFill>
                    <a:srgbClr val="FFFFFF"/>
                  </a:solidFill>
                  <a:latin typeface="Copperplate Gothic 32 AB Bold"/>
                  <a:ea typeface="Copperplate Gothic 32 AB Bold"/>
                  <a:cs typeface="Copperplate Gothic 32 AB Bold"/>
                  <a:sym typeface="Copperplate Gothic 32 AB Bold"/>
                </a:rPr>
                <a:t>CIPHER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91558" y="676707"/>
              <a:ext cx="2967126" cy="198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6"/>
                </a:lnSpc>
                <a:spcBef>
                  <a:spcPct val="0"/>
                </a:spcBef>
              </a:pPr>
              <a:r>
                <a:rPr lang="en-US" sz="840" spc="54">
                  <a:solidFill>
                    <a:srgbClr val="FFFFFF"/>
                  </a:solidFill>
                  <a:latin typeface="Copperplate Gothic 32 BC"/>
                  <a:ea typeface="Copperplate Gothic 32 BC"/>
                  <a:cs typeface="Copperplate Gothic 32 BC"/>
                  <a:sym typeface="Copperplate Gothic 32 BC"/>
                </a:rPr>
                <a:t>IT STUDENTS’ EXECUTIVE COUNCIL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493374" y="9832687"/>
            <a:ext cx="3083970" cy="27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7"/>
              </a:lnSpc>
              <a:spcBef>
                <a:spcPct val="0"/>
              </a:spcBef>
            </a:pPr>
            <a:r>
              <a:rPr lang="en-US" sz="1619">
                <a:solidFill>
                  <a:srgbClr val="38B6FF"/>
                </a:solidFill>
                <a:latin typeface="Gagalin"/>
                <a:ea typeface="Gagalin"/>
                <a:cs typeface="Gagalin"/>
                <a:sym typeface="Gagalin"/>
              </a:rPr>
              <a:t>Idea submission- Template1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397943" y="165633"/>
            <a:ext cx="3274833" cy="1083728"/>
            <a:chOff x="0" y="0"/>
            <a:chExt cx="4366444" cy="1444971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142875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8219" y="-78472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38B6FF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3321" y="-106547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5757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40520" y="415474"/>
              <a:ext cx="1025923" cy="965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44"/>
                </a:lnSpc>
                <a:spcBef>
                  <a:spcPct val="0"/>
                </a:spcBef>
              </a:pPr>
              <a:r>
                <a:rPr lang="en-US" sz="431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1.0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" t="0" r="-116" b="-23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612716"/>
            <a:ext cx="18288000" cy="674284"/>
            <a:chOff x="0" y="0"/>
            <a:chExt cx="4816593" cy="1775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77589"/>
            </a:xfrm>
            <a:custGeom>
              <a:avLst/>
              <a:gdLst/>
              <a:ahLst/>
              <a:cxnLst/>
              <a:rect r="r" b="b" t="t" l="l"/>
              <a:pathLst>
                <a:path h="17758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7589"/>
                  </a:lnTo>
                  <a:lnTo>
                    <a:pt x="0" y="17758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215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88000" cy="1387754"/>
            <a:chOff x="0" y="0"/>
            <a:chExt cx="4816593" cy="3654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365499"/>
            </a:xfrm>
            <a:custGeom>
              <a:avLst/>
              <a:gdLst/>
              <a:ahLst/>
              <a:cxnLst/>
              <a:rect r="r" b="b" t="t" l="l"/>
              <a:pathLst>
                <a:path h="3654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65499"/>
                  </a:lnTo>
                  <a:lnTo>
                    <a:pt x="0" y="365499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5715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16593" cy="403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85816" y="3569293"/>
            <a:ext cx="2474637" cy="55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H</a:t>
            </a: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ow It Works: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85076" y="9660062"/>
            <a:ext cx="20910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78255" y="1873057"/>
            <a:ext cx="5851029" cy="69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sz="4053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Imp</a:t>
            </a:r>
            <a:r>
              <a:rPr lang="en-US" sz="4053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lementation / Working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01835" y="4752528"/>
            <a:ext cx="6903486" cy="199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4"/>
              </a:lnSpc>
              <a:spcBef>
                <a:spcPct val="0"/>
              </a:spcBef>
            </a:pPr>
            <a:r>
              <a:rPr lang="en-US" sz="2853">
                <a:solidFill>
                  <a:srgbClr val="FFDE59"/>
                </a:solidFill>
                <a:latin typeface="Comic Sans"/>
                <a:ea typeface="Comic Sans"/>
                <a:cs typeface="Comic Sans"/>
                <a:sym typeface="Comic Sans"/>
              </a:rPr>
              <a:t>• S</a:t>
            </a:r>
            <a:r>
              <a:rPr lang="en-US" sz="2853">
                <a:solidFill>
                  <a:srgbClr val="FFDE59"/>
                </a:solidFill>
                <a:latin typeface="Comic Sans"/>
                <a:ea typeface="Comic Sans"/>
                <a:cs typeface="Comic Sans"/>
                <a:sym typeface="Comic Sans"/>
              </a:rPr>
              <a:t>ystem workflow</a:t>
            </a:r>
          </a:p>
          <a:p>
            <a:pPr algn="just">
              <a:lnSpc>
                <a:spcPts val="3994"/>
              </a:lnSpc>
              <a:spcBef>
                <a:spcPct val="0"/>
              </a:spcBef>
            </a:pPr>
          </a:p>
          <a:p>
            <a:pPr algn="just">
              <a:lnSpc>
                <a:spcPts val="3994"/>
              </a:lnSpc>
              <a:spcBef>
                <a:spcPct val="0"/>
              </a:spcBef>
            </a:pPr>
            <a:r>
              <a:rPr lang="en-US" sz="2853">
                <a:solidFill>
                  <a:srgbClr val="FFDE59"/>
                </a:solidFill>
                <a:latin typeface="Comic Sans"/>
                <a:ea typeface="Comic Sans"/>
                <a:cs typeface="Comic Sans"/>
                <a:sym typeface="Comic Sans"/>
              </a:rPr>
              <a:t>• Steps of the solution</a:t>
            </a:r>
          </a:p>
          <a:p>
            <a:pPr algn="just">
              <a:lnSpc>
                <a:spcPts val="3994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232465" y="4637042"/>
            <a:ext cx="3451805" cy="95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0"/>
              </a:lnSpc>
              <a:spcBef>
                <a:spcPct val="0"/>
              </a:spcBef>
            </a:pPr>
            <a:r>
              <a:rPr lang="en-US" sz="2735">
                <a:solidFill>
                  <a:srgbClr val="FFDE59"/>
                </a:solidFill>
                <a:latin typeface="Comic Sans"/>
                <a:ea typeface="Comic Sans"/>
                <a:cs typeface="Comic Sans"/>
                <a:sym typeface="Comic Sans"/>
              </a:rPr>
              <a:t> • Sc</a:t>
            </a:r>
            <a:r>
              <a:rPr lang="en-US" sz="2735">
                <a:solidFill>
                  <a:srgbClr val="FFDE59"/>
                </a:solidFill>
                <a:latin typeface="Comic Sans"/>
                <a:ea typeface="Comic Sans"/>
                <a:cs typeface="Comic Sans"/>
                <a:sym typeface="Comic Sans"/>
              </a:rPr>
              <a:t>reenshots / diagrams / prototype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30308" y="179485"/>
            <a:ext cx="3140115" cy="1083728"/>
          </a:xfrm>
          <a:custGeom>
            <a:avLst/>
            <a:gdLst/>
            <a:ahLst/>
            <a:cxnLst/>
            <a:rect r="r" b="b" t="t" l="l"/>
            <a:pathLst>
              <a:path h="1083728" w="3140115">
                <a:moveTo>
                  <a:pt x="0" y="0"/>
                </a:moveTo>
                <a:lnTo>
                  <a:pt x="3140115" y="0"/>
                </a:lnTo>
                <a:lnTo>
                  <a:pt x="3140115" y="1083729"/>
                </a:lnTo>
                <a:lnTo>
                  <a:pt x="0" y="1083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991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5042849" y="334869"/>
            <a:ext cx="2744013" cy="745256"/>
            <a:chOff x="0" y="0"/>
            <a:chExt cx="3658684" cy="9936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2935" cy="993675"/>
            </a:xfrm>
            <a:custGeom>
              <a:avLst/>
              <a:gdLst/>
              <a:ahLst/>
              <a:cxnLst/>
              <a:rect r="r" b="b" t="t" l="l"/>
              <a:pathLst>
                <a:path h="993675" w="832935">
                  <a:moveTo>
                    <a:pt x="0" y="0"/>
                  </a:moveTo>
                  <a:lnTo>
                    <a:pt x="832935" y="0"/>
                  </a:lnTo>
                  <a:lnTo>
                    <a:pt x="832935" y="993675"/>
                  </a:lnTo>
                  <a:lnTo>
                    <a:pt x="0" y="993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070" t="-27596" r="-13168" b="-314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946119" y="144465"/>
              <a:ext cx="2356744" cy="562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 spc="149">
                  <a:solidFill>
                    <a:srgbClr val="FFFFFF"/>
                  </a:solidFill>
                  <a:latin typeface="Copperplate Gothic 32 AB Bold"/>
                  <a:ea typeface="Copperplate Gothic 32 AB Bold"/>
                  <a:cs typeface="Copperplate Gothic 32 AB Bold"/>
                  <a:sym typeface="Copperplate Gothic 32 AB Bold"/>
                </a:rPr>
                <a:t>CIPHER 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91558" y="676707"/>
              <a:ext cx="2967126" cy="198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6"/>
                </a:lnSpc>
                <a:spcBef>
                  <a:spcPct val="0"/>
                </a:spcBef>
              </a:pPr>
              <a:r>
                <a:rPr lang="en-US" sz="840" spc="54">
                  <a:solidFill>
                    <a:srgbClr val="FFFFFF"/>
                  </a:solidFill>
                  <a:latin typeface="Copperplate Gothic 32 BC"/>
                  <a:ea typeface="Copperplate Gothic 32 BC"/>
                  <a:cs typeface="Copperplate Gothic 32 BC"/>
                  <a:sym typeface="Copperplate Gothic 32 BC"/>
                </a:rPr>
                <a:t>IT STUDENTS’ EXECUTIVE COUNCIL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493374" y="9832687"/>
            <a:ext cx="3083970" cy="27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7"/>
              </a:lnSpc>
              <a:spcBef>
                <a:spcPct val="0"/>
              </a:spcBef>
            </a:pPr>
            <a:r>
              <a:rPr lang="en-US" sz="1619">
                <a:solidFill>
                  <a:srgbClr val="38B6FF"/>
                </a:solidFill>
                <a:latin typeface="Gagalin"/>
                <a:ea typeface="Gagalin"/>
                <a:cs typeface="Gagalin"/>
                <a:sym typeface="Gagalin"/>
              </a:rPr>
              <a:t>Idea submission- Template1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397943" y="165633"/>
            <a:ext cx="3274833" cy="1083728"/>
            <a:chOff x="0" y="0"/>
            <a:chExt cx="4366444" cy="1444971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142875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8219" y="-78472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38B6FF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3321" y="-106547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5757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340520" y="415474"/>
              <a:ext cx="1025923" cy="965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44"/>
                </a:lnSpc>
                <a:spcBef>
                  <a:spcPct val="0"/>
                </a:spcBef>
              </a:pPr>
              <a:r>
                <a:rPr lang="en-US" sz="431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1.0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" t="0" r="-116" b="-23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612716"/>
            <a:ext cx="18288000" cy="674284"/>
            <a:chOff x="0" y="0"/>
            <a:chExt cx="4816593" cy="1775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77589"/>
            </a:xfrm>
            <a:custGeom>
              <a:avLst/>
              <a:gdLst/>
              <a:ahLst/>
              <a:cxnLst/>
              <a:rect r="r" b="b" t="t" l="l"/>
              <a:pathLst>
                <a:path h="17758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7589"/>
                  </a:lnTo>
                  <a:lnTo>
                    <a:pt x="0" y="17758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215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88000" cy="1387754"/>
            <a:chOff x="0" y="0"/>
            <a:chExt cx="4816593" cy="3654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365499"/>
            </a:xfrm>
            <a:custGeom>
              <a:avLst/>
              <a:gdLst/>
              <a:ahLst/>
              <a:cxnLst/>
              <a:rect r="r" b="b" t="t" l="l"/>
              <a:pathLst>
                <a:path h="3654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65499"/>
                  </a:lnTo>
                  <a:lnTo>
                    <a:pt x="0" y="365499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5715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16593" cy="403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04625" y="2958506"/>
            <a:ext cx="4857304" cy="627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4"/>
              </a:lnSpc>
            </a:pPr>
          </a:p>
          <a:p>
            <a:pPr algn="l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• Ben</a:t>
            </a: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efits of the solution</a:t>
            </a:r>
          </a:p>
          <a:p>
            <a:pPr algn="l">
              <a:lnSpc>
                <a:spcPts val="4554"/>
              </a:lnSpc>
              <a:spcBef>
                <a:spcPct val="0"/>
              </a:spcBef>
            </a:pPr>
          </a:p>
          <a:p>
            <a:pPr algn="l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• Target users </a:t>
            </a:r>
          </a:p>
          <a:p>
            <a:pPr algn="l">
              <a:lnSpc>
                <a:spcPts val="4554"/>
              </a:lnSpc>
              <a:spcBef>
                <a:spcPct val="0"/>
              </a:spcBef>
            </a:pPr>
          </a:p>
          <a:p>
            <a:pPr algn="l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• Future Scope</a:t>
            </a:r>
          </a:p>
          <a:p>
            <a:pPr algn="l">
              <a:lnSpc>
                <a:spcPts val="4554"/>
              </a:lnSpc>
              <a:spcBef>
                <a:spcPct val="0"/>
              </a:spcBef>
            </a:pPr>
          </a:p>
          <a:p>
            <a:pPr algn="l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• Possible improvements</a:t>
            </a:r>
          </a:p>
          <a:p>
            <a:pPr algn="l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 </a:t>
            </a:r>
          </a:p>
          <a:p>
            <a:pPr algn="l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FFDE59"/>
                </a:solidFill>
                <a:latin typeface="Gagalin"/>
                <a:ea typeface="Gagalin"/>
                <a:cs typeface="Gagalin"/>
                <a:sym typeface="Gagalin"/>
              </a:rPr>
              <a:t>• Scalability</a:t>
            </a:r>
          </a:p>
          <a:p>
            <a:pPr algn="l">
              <a:lnSpc>
                <a:spcPts val="4554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781653" y="9660062"/>
            <a:ext cx="21595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30112" y="1873057"/>
            <a:ext cx="8421531" cy="141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sz="4053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Impact &amp; Futu</a:t>
            </a:r>
            <a:r>
              <a:rPr lang="en-US" sz="4053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re Scope Impact</a:t>
            </a:r>
          </a:p>
          <a:p>
            <a:pPr algn="ctr">
              <a:lnSpc>
                <a:spcPts val="5674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30308" y="179485"/>
            <a:ext cx="3140115" cy="1083728"/>
          </a:xfrm>
          <a:custGeom>
            <a:avLst/>
            <a:gdLst/>
            <a:ahLst/>
            <a:cxnLst/>
            <a:rect r="r" b="b" t="t" l="l"/>
            <a:pathLst>
              <a:path h="1083728" w="3140115">
                <a:moveTo>
                  <a:pt x="0" y="0"/>
                </a:moveTo>
                <a:lnTo>
                  <a:pt x="3140115" y="0"/>
                </a:lnTo>
                <a:lnTo>
                  <a:pt x="3140115" y="1083729"/>
                </a:lnTo>
                <a:lnTo>
                  <a:pt x="0" y="1083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991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042849" y="334869"/>
            <a:ext cx="2744013" cy="745256"/>
            <a:chOff x="0" y="0"/>
            <a:chExt cx="3658684" cy="9936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2935" cy="993675"/>
            </a:xfrm>
            <a:custGeom>
              <a:avLst/>
              <a:gdLst/>
              <a:ahLst/>
              <a:cxnLst/>
              <a:rect r="r" b="b" t="t" l="l"/>
              <a:pathLst>
                <a:path h="993675" w="832935">
                  <a:moveTo>
                    <a:pt x="0" y="0"/>
                  </a:moveTo>
                  <a:lnTo>
                    <a:pt x="832935" y="0"/>
                  </a:lnTo>
                  <a:lnTo>
                    <a:pt x="832935" y="993675"/>
                  </a:lnTo>
                  <a:lnTo>
                    <a:pt x="0" y="993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070" t="-27596" r="-13168" b="-314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946119" y="144465"/>
              <a:ext cx="2356744" cy="562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 spc="149">
                  <a:solidFill>
                    <a:srgbClr val="FFFFFF"/>
                  </a:solidFill>
                  <a:latin typeface="Copperplate Gothic 32 AB Bold"/>
                  <a:ea typeface="Copperplate Gothic 32 AB Bold"/>
                  <a:cs typeface="Copperplate Gothic 32 AB Bold"/>
                  <a:sym typeface="Copperplate Gothic 32 AB Bold"/>
                </a:rPr>
                <a:t>CIPHER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91558" y="676707"/>
              <a:ext cx="2967126" cy="198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6"/>
                </a:lnSpc>
                <a:spcBef>
                  <a:spcPct val="0"/>
                </a:spcBef>
              </a:pPr>
              <a:r>
                <a:rPr lang="en-US" sz="840" spc="54">
                  <a:solidFill>
                    <a:srgbClr val="FFFFFF"/>
                  </a:solidFill>
                  <a:latin typeface="Copperplate Gothic 32 BC"/>
                  <a:ea typeface="Copperplate Gothic 32 BC"/>
                  <a:cs typeface="Copperplate Gothic 32 BC"/>
                  <a:sym typeface="Copperplate Gothic 32 BC"/>
                </a:rPr>
                <a:t>IT STUDENTS’ EXECUTIVE COUNCIL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493374" y="9832687"/>
            <a:ext cx="3083970" cy="27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7"/>
              </a:lnSpc>
              <a:spcBef>
                <a:spcPct val="0"/>
              </a:spcBef>
            </a:pPr>
            <a:r>
              <a:rPr lang="en-US" sz="1619">
                <a:solidFill>
                  <a:srgbClr val="38B6FF"/>
                </a:solidFill>
                <a:latin typeface="Gagalin"/>
                <a:ea typeface="Gagalin"/>
                <a:cs typeface="Gagalin"/>
                <a:sym typeface="Gagalin"/>
              </a:rPr>
              <a:t>Idea submission- Template1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397943" y="165633"/>
            <a:ext cx="3274833" cy="1083728"/>
            <a:chOff x="0" y="0"/>
            <a:chExt cx="4366444" cy="1444971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142875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8219" y="-78472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38B6FF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3321" y="-106547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5757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40520" y="415474"/>
              <a:ext cx="1025923" cy="965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44"/>
                </a:lnSpc>
                <a:spcBef>
                  <a:spcPct val="0"/>
                </a:spcBef>
              </a:pPr>
              <a:r>
                <a:rPr lang="en-US" sz="431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1.0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" t="0" r="-116" b="-23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612716"/>
            <a:ext cx="18288000" cy="674284"/>
            <a:chOff x="0" y="0"/>
            <a:chExt cx="4816593" cy="1775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77589"/>
            </a:xfrm>
            <a:custGeom>
              <a:avLst/>
              <a:gdLst/>
              <a:ahLst/>
              <a:cxnLst/>
              <a:rect r="r" b="b" t="t" l="l"/>
              <a:pathLst>
                <a:path h="17758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7589"/>
                  </a:lnTo>
                  <a:lnTo>
                    <a:pt x="0" y="177589"/>
                  </a:ln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215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88000" cy="1387754"/>
            <a:chOff x="0" y="0"/>
            <a:chExt cx="4816593" cy="3654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365499"/>
            </a:xfrm>
            <a:custGeom>
              <a:avLst/>
              <a:gdLst/>
              <a:ahLst/>
              <a:cxnLst/>
              <a:rect r="r" b="b" t="t" l="l"/>
              <a:pathLst>
                <a:path h="3654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65499"/>
                  </a:lnTo>
                  <a:lnTo>
                    <a:pt x="0" y="365499"/>
                  </a:ln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5715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16593" cy="403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788350" y="9660062"/>
            <a:ext cx="20255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29414" y="1873057"/>
            <a:ext cx="6348710" cy="69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sz="4053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S</a:t>
            </a:r>
            <a:r>
              <a:rPr lang="en-US" sz="4053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lide 7 – Rules &amp; Guidelines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0017" y="2904456"/>
            <a:ext cx="17147966" cy="670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4121" indent="-272061" lvl="1">
              <a:lnSpc>
                <a:spcPts val="3528"/>
              </a:lnSpc>
              <a:buAutoNum type="arabicPeriod" startAt="1"/>
            </a:pPr>
            <a:r>
              <a:rPr lang="en-US" sz="252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presentation must not exceed 6 slides (excluding this slide).</a:t>
            </a:r>
          </a:p>
          <a:p>
            <a:pPr algn="just" marL="544121" indent="-272061" lvl="1">
              <a:lnSpc>
                <a:spcPts val="3528"/>
              </a:lnSpc>
              <a:buAutoNum type="arabicPeriod" startAt="1"/>
            </a:pPr>
            <a:r>
              <a:rPr lang="en-US" sz="252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 can modify this ppt, but not the structure, the sections should be as it is</a:t>
            </a:r>
          </a:p>
          <a:p>
            <a:pPr algn="just" marL="544121" indent="-272061" lvl="1">
              <a:lnSpc>
                <a:spcPts val="3528"/>
              </a:lnSpc>
              <a:buAutoNum type="arabicPeriod" startAt="1"/>
            </a:pPr>
            <a:r>
              <a:rPr lang="en-US" sz="252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Teams will be given a limited time window to present their idea, so the pitch should be clear, concise, and well-structured.</a:t>
            </a:r>
          </a:p>
          <a:p>
            <a:pPr algn="just" marL="544121" indent="-272061" lvl="1">
              <a:lnSpc>
                <a:spcPts val="3528"/>
              </a:lnSpc>
              <a:buAutoNum type="arabicPeriod" startAt="1"/>
            </a:pPr>
            <a:r>
              <a:rPr lang="en-US" sz="252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Participants must clearly define the problem statement and explain their proposed solution in a logical and understandable manner.</a:t>
            </a:r>
          </a:p>
          <a:p>
            <a:pPr algn="just" marL="544121" indent="-272061" lvl="1">
              <a:lnSpc>
                <a:spcPts val="3528"/>
              </a:lnSpc>
              <a:buAutoNum type="arabicPeriod" startAt="1"/>
            </a:pPr>
            <a:r>
              <a:rPr lang="en-US" sz="252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All ideas and content presented must be original work of the team. Any form of plagiarism or copied content will lead to immediate disqualification.</a:t>
            </a:r>
          </a:p>
          <a:p>
            <a:pPr algn="just" marL="544121" indent="-272061" lvl="1">
              <a:lnSpc>
                <a:spcPts val="3528"/>
              </a:lnSpc>
              <a:buAutoNum type="arabicPeriod" startAt="1"/>
            </a:pPr>
            <a:r>
              <a:rPr lang="en-US" sz="252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Teams are encouraged to include relevant visuals, diagrams, or prototypes to better demonstrate their concept.</a:t>
            </a:r>
          </a:p>
          <a:p>
            <a:pPr algn="just" marL="544121" indent="-272061" lvl="1">
              <a:lnSpc>
                <a:spcPts val="3528"/>
              </a:lnSpc>
              <a:buAutoNum type="arabicPeriod" startAt="1"/>
            </a:pPr>
            <a:r>
              <a:rPr lang="en-US" sz="252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evaluation will be based on innovation, feasibility, clarity of presentation, and potential impact of the proposed solution.</a:t>
            </a:r>
          </a:p>
          <a:p>
            <a:pPr algn="just" marL="544121" indent="-272061" lvl="1">
              <a:lnSpc>
                <a:spcPts val="3528"/>
              </a:lnSpc>
              <a:buAutoNum type="arabicPeriod" startAt="1"/>
            </a:pPr>
            <a:r>
              <a:rPr lang="en-US" sz="252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decision of the judging panel will be final and binding for all participants.</a:t>
            </a:r>
          </a:p>
          <a:p>
            <a:pPr algn="just">
              <a:lnSpc>
                <a:spcPts val="3528"/>
              </a:lnSpc>
            </a:pPr>
          </a:p>
          <a:p>
            <a:pPr algn="ctr">
              <a:lnSpc>
                <a:spcPts val="3528"/>
              </a:lnSpc>
            </a:pPr>
            <a:r>
              <a:rPr lang="en-US" b="true" sz="2520">
                <a:solidFill>
                  <a:srgbClr val="FF575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DELETE THIS SLIDE BEFORE SUBMITTING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30308" y="179485"/>
            <a:ext cx="3140115" cy="1083728"/>
          </a:xfrm>
          <a:custGeom>
            <a:avLst/>
            <a:gdLst/>
            <a:ahLst/>
            <a:cxnLst/>
            <a:rect r="r" b="b" t="t" l="l"/>
            <a:pathLst>
              <a:path h="1083728" w="3140115">
                <a:moveTo>
                  <a:pt x="0" y="0"/>
                </a:moveTo>
                <a:lnTo>
                  <a:pt x="3140115" y="0"/>
                </a:lnTo>
                <a:lnTo>
                  <a:pt x="3140115" y="1083729"/>
                </a:lnTo>
                <a:lnTo>
                  <a:pt x="0" y="1083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991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042849" y="334869"/>
            <a:ext cx="2744013" cy="745256"/>
            <a:chOff x="0" y="0"/>
            <a:chExt cx="3658684" cy="9936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2935" cy="993675"/>
            </a:xfrm>
            <a:custGeom>
              <a:avLst/>
              <a:gdLst/>
              <a:ahLst/>
              <a:cxnLst/>
              <a:rect r="r" b="b" t="t" l="l"/>
              <a:pathLst>
                <a:path h="993675" w="832935">
                  <a:moveTo>
                    <a:pt x="0" y="0"/>
                  </a:moveTo>
                  <a:lnTo>
                    <a:pt x="832935" y="0"/>
                  </a:lnTo>
                  <a:lnTo>
                    <a:pt x="832935" y="993675"/>
                  </a:lnTo>
                  <a:lnTo>
                    <a:pt x="0" y="993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070" t="-27596" r="-13168" b="-314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946119" y="144465"/>
              <a:ext cx="2356744" cy="562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r>
                <a:rPr lang="en-US" sz="2300" spc="149">
                  <a:solidFill>
                    <a:srgbClr val="FFFFFF"/>
                  </a:solidFill>
                  <a:latin typeface="Copperplate Gothic 32 AB Bold"/>
                  <a:ea typeface="Copperplate Gothic 32 AB Bold"/>
                  <a:cs typeface="Copperplate Gothic 32 AB Bold"/>
                  <a:sym typeface="Copperplate Gothic 32 AB Bold"/>
                </a:rPr>
                <a:t>CIPHER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91558" y="676707"/>
              <a:ext cx="2967126" cy="198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6"/>
                </a:lnSpc>
                <a:spcBef>
                  <a:spcPct val="0"/>
                </a:spcBef>
              </a:pPr>
              <a:r>
                <a:rPr lang="en-US" sz="840" spc="54">
                  <a:solidFill>
                    <a:srgbClr val="FFFFFF"/>
                  </a:solidFill>
                  <a:latin typeface="Copperplate Gothic 32 BC"/>
                  <a:ea typeface="Copperplate Gothic 32 BC"/>
                  <a:cs typeface="Copperplate Gothic 32 BC"/>
                  <a:sym typeface="Copperplate Gothic 32 BC"/>
                </a:rPr>
                <a:t>IT STUDENTS’ EXECUTIVE COUNCIL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493374" y="9832687"/>
            <a:ext cx="3083970" cy="27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7"/>
              </a:lnSpc>
              <a:spcBef>
                <a:spcPct val="0"/>
              </a:spcBef>
            </a:pPr>
            <a:r>
              <a:rPr lang="en-US" sz="1619">
                <a:solidFill>
                  <a:srgbClr val="38B6FF"/>
                </a:solidFill>
                <a:latin typeface="Gagalin"/>
                <a:ea typeface="Gagalin"/>
                <a:cs typeface="Gagalin"/>
                <a:sym typeface="Gagalin"/>
              </a:rPr>
              <a:t>Idea submission- Template1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397943" y="165633"/>
            <a:ext cx="3274833" cy="1083728"/>
            <a:chOff x="0" y="0"/>
            <a:chExt cx="4366444" cy="1444971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142875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8219" y="-78472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38B6FF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3321" y="-106547"/>
              <a:ext cx="3820161" cy="1523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  <a:spcBef>
                  <a:spcPct val="0"/>
                </a:spcBef>
              </a:pPr>
              <a:r>
                <a:rPr lang="en-US" sz="6857">
                  <a:solidFill>
                    <a:srgbClr val="FF5757"/>
                  </a:solidFill>
                  <a:latin typeface="Bangers"/>
                  <a:ea typeface="Bangers"/>
                  <a:cs typeface="Bangers"/>
                  <a:sym typeface="Bangers"/>
                </a:rPr>
                <a:t>VELORA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40520" y="415474"/>
              <a:ext cx="1025923" cy="965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44"/>
                </a:lnSpc>
                <a:spcBef>
                  <a:spcPct val="0"/>
                </a:spcBef>
              </a:pPr>
              <a:r>
                <a:rPr lang="en-US" sz="4317">
                  <a:solidFill>
                    <a:srgbClr val="FFDE59"/>
                  </a:solidFill>
                  <a:latin typeface="Bangers"/>
                  <a:ea typeface="Bangers"/>
                  <a:cs typeface="Bangers"/>
                  <a:sym typeface="Bangers"/>
                </a:rPr>
                <a:t>1.0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DAHEGsvVRu4</dc:identifier>
  <dcterms:modified xsi:type="dcterms:W3CDTF">2011-08-01T06:04:30Z</dcterms:modified>
  <cp:revision>1</cp:revision>
  <dc:title>Project Title</dc:title>
</cp:coreProperties>
</file>